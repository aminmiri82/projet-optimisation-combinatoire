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6E6B"/>
    <a:srgbClr val="C49A45"/>
    <a:srgbClr val="6B8E4E"/>
    <a:srgbClr val="B85C38"/>
    <a:srgbClr val="3D5A80"/>
    <a:srgbClr val="6E6A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718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16E6B"/>
          </a:solidFill>
          <a:ln w="12700">
            <a:solidFill>
              <a:srgbClr val="216E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345936"/>
            <a:ext cx="11201400" cy="0"/>
          </a:xfrm>
          <a:prstGeom prst="line">
            <a:avLst/>
          </a:prstGeom>
          <a:noFill/>
          <a:ln w="12700">
            <a:solidFill>
              <a:srgbClr val="D8D1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4652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A74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GraphBench - Optimisation combinatoire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9FC9EE-20DC-4990-4606-1FFE724BA2F8}"/>
              </a:ext>
            </a:extLst>
          </p:cNvPr>
          <p:cNvSpPr txBox="1"/>
          <p:nvPr/>
        </p:nvSpPr>
        <p:spPr>
          <a:xfrm>
            <a:off x="840828" y="2274838"/>
            <a:ext cx="5707117" cy="2308324"/>
          </a:xfrm>
          <a:prstGeom prst="rect">
            <a:avLst/>
          </a:prstGeom>
          <a:ln>
            <a:solidFill>
              <a:srgbClr val="306E6B"/>
            </a:solidFill>
          </a:ln>
          <a:effectLst>
            <a:softEdge rad="127000"/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7200" dirty="0">
                <a:solidFill>
                  <a:srgbClr val="306E6B"/>
                </a:solidFill>
              </a:rPr>
              <a:t>Optimisation Combinatoire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9302303-E2A8-5496-E15E-0CD97D621556}"/>
              </a:ext>
            </a:extLst>
          </p:cNvPr>
          <p:cNvSpPr txBox="1"/>
          <p:nvPr/>
        </p:nvSpPr>
        <p:spPr>
          <a:xfrm>
            <a:off x="840828" y="5473272"/>
            <a:ext cx="4033345" cy="584775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lvl1pPr>
              <a:defRPr sz="7200">
                <a:solidFill>
                  <a:srgbClr val="306E6B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fr-FR" sz="1600" dirty="0"/>
              <a:t>20 Mai 2026</a:t>
            </a:r>
          </a:p>
          <a:p>
            <a:r>
              <a:rPr lang="fr-FR" sz="1600" dirty="0"/>
              <a:t>MIRI Seyed </a:t>
            </a:r>
            <a:r>
              <a:rPr lang="fr-FR" sz="1600" dirty="0" err="1"/>
              <a:t>Amineddin</a:t>
            </a:r>
            <a:r>
              <a:rPr lang="fr-FR" sz="1600" dirty="0"/>
              <a:t> | BIBI </a:t>
            </a:r>
            <a:r>
              <a:rPr lang="fr-FR" sz="1600" dirty="0" err="1"/>
              <a:t>Leaticia</a:t>
            </a:r>
            <a:r>
              <a:rPr lang="fr-FR" sz="1600" dirty="0"/>
              <a:t> M</a:t>
            </a:r>
          </a:p>
        </p:txBody>
      </p:sp>
      <p:pic>
        <p:nvPicPr>
          <p:cNvPr id="7" name="Image 6" descr="Une image contenant texte, Police, Graphique, graphisme&#10;&#10;Description générée automatiquement">
            <a:extLst>
              <a:ext uri="{FF2B5EF4-FFF2-40B4-BE49-F238E27FC236}">
                <a16:creationId xmlns:a16="http://schemas.microsoft.com/office/drawing/2014/main" id="{BFD4150C-AA24-CE0C-3172-1F82DED9A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28" y="562181"/>
            <a:ext cx="2572626" cy="550383"/>
          </a:xfrm>
          <a:prstGeom prst="rect">
            <a:avLst/>
          </a:prstGeom>
        </p:spPr>
      </p:pic>
      <p:pic>
        <p:nvPicPr>
          <p:cNvPr id="1028" name="Picture 4" descr="discreteoptimization #optimization #algorithms #greedyalgorithm  #dynamicprogramming #techhumor #datascience #operationsresearch | Adam  DeJans Jr. | 23 comments">
            <a:extLst>
              <a:ext uri="{FF2B5EF4-FFF2-40B4-BE49-F238E27FC236}">
                <a16:creationId xmlns:a16="http://schemas.microsoft.com/office/drawing/2014/main" id="{3487DE9D-D3A1-4351-8F28-FC574454A4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6513" y="178677"/>
            <a:ext cx="45354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1288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</a:t>
            </a:r>
            <a:r>
              <a:rPr lang="en-US" sz="850" b="1" dirty="0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850" b="1" dirty="0" err="1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Combinatoire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B1C1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Notre algorithme en une idée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713232" y="14173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83A3A"/>
                </a:solidFill>
              </a:rPr>
              <a:t>Une recherche par population qui démarre volontairement près de familles extrémales, puis affine localement.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85800" y="2761488"/>
            <a:ext cx="1901952" cy="310896"/>
          </a:xfrm>
          <a:prstGeom prst="roundRect">
            <a:avLst>
              <a:gd name="adj" fmla="val 11765"/>
            </a:avLst>
          </a:prstGeom>
          <a:solidFill>
            <a:srgbClr val="306E6B"/>
          </a:solidFill>
          <a:ln w="12700">
            <a:solidFill>
              <a:srgbClr val="216E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95528" y="2830068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graines structurelles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926080" y="2761488"/>
            <a:ext cx="1901952" cy="310896"/>
          </a:xfrm>
          <a:prstGeom prst="roundRect">
            <a:avLst>
              <a:gd name="adj" fmla="val 11765"/>
            </a:avLst>
          </a:prstGeom>
          <a:solidFill>
            <a:srgbClr val="306E6B"/>
          </a:solidFill>
          <a:ln w="12700">
            <a:solidFill>
              <a:srgbClr val="3D5A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035808" y="2830068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évaluation par violation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166360" y="2761488"/>
            <a:ext cx="1901952" cy="310896"/>
          </a:xfrm>
          <a:prstGeom prst="roundRect">
            <a:avLst>
              <a:gd name="adj" fmla="val 11765"/>
            </a:avLst>
          </a:prstGeom>
          <a:solidFill>
            <a:srgbClr val="306E6B"/>
          </a:solidFill>
          <a:ln w="12700">
            <a:solidFill>
              <a:srgbClr val="C49A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276088" y="2830068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sélection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406640" y="2761488"/>
            <a:ext cx="1901952" cy="310896"/>
          </a:xfrm>
          <a:prstGeom prst="roundRect">
            <a:avLst>
              <a:gd name="adj" fmla="val 11765"/>
            </a:avLst>
          </a:prstGeom>
          <a:solidFill>
            <a:srgbClr val="306E6B"/>
          </a:solidFill>
          <a:ln w="12700">
            <a:solidFill>
              <a:srgbClr val="B85C3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7516368" y="2830068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mutations locales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646920" y="2761488"/>
            <a:ext cx="1901952" cy="310896"/>
          </a:xfrm>
          <a:prstGeom prst="roundRect">
            <a:avLst>
              <a:gd name="adj" fmla="val 11765"/>
            </a:avLst>
          </a:prstGeom>
          <a:solidFill>
            <a:srgbClr val="306E6B"/>
          </a:solidFill>
          <a:ln w="12700">
            <a:solidFill>
              <a:srgbClr val="6B8E4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756648" y="2830068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validation stricte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280160" y="422452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B1C1E"/>
                </a:solidFill>
              </a:rPr>
              <a:t>Résultat final v5 : 100/100 contre-exemples valides en 127.94 s</a:t>
            </a:r>
            <a:endParaRPr lang="en-US" sz="2500" dirty="0"/>
          </a:p>
        </p:txBody>
      </p:sp>
      <p:sp>
        <p:nvSpPr>
          <p:cNvPr id="16" name="Shape 14"/>
          <p:cNvSpPr/>
          <p:nvPr/>
        </p:nvSpPr>
        <p:spPr>
          <a:xfrm>
            <a:off x="1920240" y="4983480"/>
            <a:ext cx="2194560" cy="1051560"/>
          </a:xfrm>
          <a:prstGeom prst="roundRect">
            <a:avLst>
              <a:gd name="adj" fmla="val 5217"/>
            </a:avLst>
          </a:prstGeom>
          <a:ln>
            <a:solidFill>
              <a:srgbClr val="306E6B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057400" y="51480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16E6B"/>
                </a:solidFill>
              </a:rPr>
              <a:t>100/100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2057400" y="560527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contre-exemples validés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83480" y="4983480"/>
            <a:ext cx="21945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306E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120640" y="51480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306E6B"/>
                </a:solidFill>
              </a:rPr>
              <a:t>127.94 s</a:t>
            </a:r>
            <a:endParaRPr lang="en-US" sz="2300" dirty="0">
              <a:solidFill>
                <a:srgbClr val="306E6B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5120640" y="560527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temps total v5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046720" y="4983480"/>
            <a:ext cx="21945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306E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8183880" y="51480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306E6B"/>
                </a:solidFill>
              </a:rPr>
              <a:t>1.279 s</a:t>
            </a:r>
            <a:endParaRPr lang="en-US" sz="2300" dirty="0">
              <a:solidFill>
                <a:srgbClr val="306E6B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8183880" y="560527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temps moyen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B1C1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Évolution de l’algorithme : v1 à v5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BFAF7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22960" y="15819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E6A63"/>
                </a:solidFill>
              </a:rPr>
              <a:t>v1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81328" y="156362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B1C1E"/>
                </a:solidFill>
              </a:rPr>
              <a:t>Génération aléatoire par classe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178040" y="15544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E6A63"/>
                </a:solidFill>
              </a:rPr>
              <a:t>Pipeline de base</a:t>
            </a:r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822960" y="238658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5A80"/>
                </a:solidFill>
              </a:rPr>
              <a:t>v2</a:t>
            </a:r>
            <a:endParaRPr lang="en-US" sz="1300" dirty="0">
              <a:solidFill>
                <a:srgbClr val="3D5A8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481328" y="2368296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B1C1E"/>
                </a:solidFill>
              </a:rPr>
              <a:t>Graines simples : chemins, cycles, cliques, araignées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78040" y="235915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3D5A80"/>
                </a:solidFill>
              </a:rPr>
              <a:t>Meilleur point de départ</a:t>
            </a:r>
          </a:p>
        </p:txBody>
      </p:sp>
      <p:sp>
        <p:nvSpPr>
          <p:cNvPr id="12" name="Shape 10"/>
          <p:cNvSpPr/>
          <p:nvPr/>
        </p:nvSpPr>
        <p:spPr>
          <a:xfrm>
            <a:off x="640080" y="3026664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BFAF7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3" name="Text 11"/>
          <p:cNvSpPr/>
          <p:nvPr/>
        </p:nvSpPr>
        <p:spPr>
          <a:xfrm>
            <a:off x="822960" y="31912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5C38"/>
                </a:solidFill>
              </a:rPr>
              <a:t>v3</a:t>
            </a:r>
            <a:endParaRPr lang="en-US" sz="1300" dirty="0">
              <a:solidFill>
                <a:srgbClr val="B85C38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481328" y="317296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B1C1E"/>
                </a:solidFill>
              </a:rPr>
              <a:t>Familles ciblées : doubles étoiles, cliques endommagées, clique-chemin-clique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78040" y="316382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B85C38"/>
                </a:solidFill>
              </a:rPr>
              <a:t>Gros gain sur les invariants difficiles</a:t>
            </a:r>
          </a:p>
        </p:txBody>
      </p:sp>
      <p:sp>
        <p:nvSpPr>
          <p:cNvPr id="16" name="Shape 14"/>
          <p:cNvSpPr/>
          <p:nvPr/>
        </p:nvSpPr>
        <p:spPr>
          <a:xfrm>
            <a:off x="640080" y="3831336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22960" y="39959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8E4E"/>
                </a:solidFill>
              </a:rPr>
              <a:t>v4</a:t>
            </a:r>
            <a:endParaRPr lang="en-US" sz="1300" dirty="0">
              <a:solidFill>
                <a:srgbClr val="6B8E4E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1481328" y="397764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B1C1E"/>
                </a:solidFill>
              </a:rPr>
              <a:t>Chemins branchés et queues triangulaires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178040" y="396849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8E4E"/>
                </a:solidFill>
              </a:rPr>
              <a:t>100/100 stable</a:t>
            </a:r>
          </a:p>
        </p:txBody>
      </p:sp>
      <p:sp>
        <p:nvSpPr>
          <p:cNvPr id="20" name="Shape 18"/>
          <p:cNvSpPr/>
          <p:nvPr/>
        </p:nvSpPr>
        <p:spPr>
          <a:xfrm>
            <a:off x="640080" y="4636008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BFAF7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822960" y="4800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9A45"/>
                </a:solidFill>
              </a:rPr>
              <a:t>v5</a:t>
            </a:r>
            <a:endParaRPr lang="en-US" sz="1300" dirty="0">
              <a:solidFill>
                <a:srgbClr val="C49A45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1481328" y="4782312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B1C1E"/>
                </a:solidFill>
              </a:rPr>
              <a:t>Population adaptative : 30, 60 ou 120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178040" y="477316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C49A45"/>
                </a:solidFill>
              </a:rPr>
              <a:t>Même 100/100, plus rapide</a:t>
            </a:r>
          </a:p>
        </p:txBody>
      </p:sp>
      <p:sp>
        <p:nvSpPr>
          <p:cNvPr id="24" name="Text 22"/>
          <p:cNvSpPr/>
          <p:nvPr/>
        </p:nvSpPr>
        <p:spPr>
          <a:xfrm>
            <a:off x="731520" y="57150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83A3A"/>
                </a:solidFill>
              </a:rPr>
              <a:t>Lecture orale : chaque version corrige une faiblesse observée, pas un simple changement de code.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PREMIÈRE VERSION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B1C1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v1 : baseline aléatoire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21010" y="2132024"/>
            <a:ext cx="3246120" cy="201168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21010" y="2132024"/>
            <a:ext cx="73152" cy="2011680"/>
          </a:xfrm>
          <a:prstGeom prst="rect">
            <a:avLst/>
          </a:prstGeom>
          <a:solidFill>
            <a:srgbClr val="6E6A63"/>
          </a:solidFill>
          <a:ln w="12700">
            <a:solidFill>
              <a:srgbClr val="6E6A6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49610" y="2296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Ce que faisait v1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49610" y="2662376"/>
            <a:ext cx="28346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Générer des graphes selon la classe demandée, puis réparer si les contraintes n’étaient pas respectées.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470050" y="2132024"/>
            <a:ext cx="3246120" cy="201168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470050" y="2132024"/>
            <a:ext cx="73152" cy="2011680"/>
          </a:xfrm>
          <a:prstGeom prst="rect">
            <a:avLst/>
          </a:prstGeom>
          <a:solidFill>
            <a:srgbClr val="6E6A63"/>
          </a:solidFill>
          <a:ln w="12700">
            <a:solidFill>
              <a:srgbClr val="6E6A6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698650" y="2296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Ce que ça validait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98650" y="2662376"/>
            <a:ext cx="28346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Le chargement du benchmark, le calcul des invariants, la formule de violation et la sortie graph6.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219090" y="2132024"/>
            <a:ext cx="3246120" cy="201168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8219090" y="2132024"/>
            <a:ext cx="73152" cy="2011680"/>
          </a:xfrm>
          <a:prstGeom prst="rect">
            <a:avLst/>
          </a:prstGeom>
          <a:solidFill>
            <a:srgbClr val="6E6A63"/>
          </a:solidFill>
          <a:ln w="12700">
            <a:solidFill>
              <a:srgbClr val="6E6A6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447690" y="2296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Limite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47690" y="2662376"/>
            <a:ext cx="28346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Exploration trop dépendante du hasard : les structures extrémales rares apparaissent difficilement.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914400" y="53492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6E6A63"/>
                </a:solidFill>
              </a:rPr>
              <a:t>Rôle de v1 : construire une base fiable, pas encore optimiser le score.</a:t>
            </a:r>
            <a:endParaRPr lang="en-US" sz="2100" dirty="0">
              <a:solidFill>
                <a:srgbClr val="6E6A63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POPULATION INITIALE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B1C1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v2 : premières graines structurelles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50749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73152" cy="1170432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60120" y="14904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Chemins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60120" y="1856232"/>
            <a:ext cx="4663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Distances, diamètre, rayon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6309360" y="1325880"/>
            <a:ext cx="50749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309360" y="1325880"/>
            <a:ext cx="73152" cy="1170432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537960" y="14904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Cycles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37960" y="1856232"/>
            <a:ext cx="4663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Formes régulières simples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50749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31520" y="2926080"/>
            <a:ext cx="73152" cy="1170432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60120" y="30906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Cliques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0120" y="3456432"/>
            <a:ext cx="4663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Densité, degré moyen, clique number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309360" y="2926080"/>
            <a:ext cx="50749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6309360" y="2926080"/>
            <a:ext cx="73152" cy="1170432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537960" y="30906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Araignées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37960" y="3456432"/>
            <a:ext cx="4663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Domination totale vs couplage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100584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D5A80"/>
                </a:solidFill>
              </a:rPr>
              <a:t>Changement d’idée : on ne laisse plus le hasard découvrir seul les bonnes familles.</a:t>
            </a:r>
            <a:endParaRPr lang="en-US" sz="2200" dirty="0">
              <a:solidFill>
                <a:srgbClr val="3D5A80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CIBLAGE DES INVARIANTS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B1C1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v3 : familles plus spécialisées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33832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85800" y="1298448"/>
            <a:ext cx="73152" cy="1078992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14400" y="146304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Doubles étoiles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2971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domination, couverture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453128" y="1298448"/>
            <a:ext cx="33832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453128" y="1298448"/>
            <a:ext cx="73152" cy="1078992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681728" y="146304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Cliques endommagées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81728" y="1828800"/>
            <a:ext cx="2971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densité, degré max, triangles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220456" y="1298448"/>
            <a:ext cx="33832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8220456" y="1298448"/>
            <a:ext cx="73152" cy="1078992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449056" y="146304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Graphes clairsemés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49056" y="1828800"/>
            <a:ext cx="2971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distance, rayon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85800" y="2871216"/>
            <a:ext cx="33832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685800" y="2871216"/>
            <a:ext cx="73152" cy="1078992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914400" y="30358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Triangles avec chemins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4400" y="3401568"/>
            <a:ext cx="2971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sans-griffe, distance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4453128" y="2871216"/>
            <a:ext cx="33832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453128" y="2871216"/>
            <a:ext cx="73152" cy="1078992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681728" y="30358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Clique-chemin-clique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681728" y="3401568"/>
            <a:ext cx="2971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spectral + goulot de distance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5C38"/>
                </a:solidFill>
              </a:rPr>
              <a:t>Ici, la population initiale devient un outil mathématique : chaque famille vise une zone du benchmark.</a:t>
            </a:r>
            <a:endParaRPr lang="en-US" sz="2000" dirty="0">
              <a:solidFill>
                <a:srgbClr val="B85C38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DERNIERS CAS DIFFICILES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B1C1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v4 : stabilisation du 100/100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48920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822960" y="1325880"/>
            <a:ext cx="73152" cy="2057400"/>
          </a:xfrm>
          <a:prstGeom prst="rect">
            <a:avLst/>
          </a:prstGeom>
          <a:solidFill>
            <a:srgbClr val="6B8E4E"/>
          </a:solidFill>
          <a:ln w="12700">
            <a:solidFill>
              <a:srgbClr val="6B8E4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1051560" y="14904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Chemins branchés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51560" y="1856232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Arbres avec effets forts sur domination indépendante, feuilles et indices de Zagreb.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6446520" y="1325880"/>
            <a:ext cx="48920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446520" y="1325880"/>
            <a:ext cx="73152" cy="2057400"/>
          </a:xfrm>
          <a:prstGeom prst="rect">
            <a:avLst/>
          </a:prstGeom>
          <a:solidFill>
            <a:srgbClr val="6B8E4E"/>
          </a:solidFill>
          <a:ln w="12700">
            <a:solidFill>
              <a:srgbClr val="6B8E4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675120" y="14904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Queues triangulaires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75120" y="1856232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Graphes proches du sans-griffe, utiles pour contrôler distances et effets spectraux.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1737360" y="4160520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6B8E4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1874520" y="432511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6B8E4E"/>
                </a:solidFill>
              </a:rPr>
              <a:t>100/100</a:t>
            </a:r>
            <a:endParaRPr lang="en-US" sz="2300" dirty="0">
              <a:solidFill>
                <a:srgbClr val="6B8E4E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874520" y="478231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contre-exemples validés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892040" y="4160520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6B8E4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029200" y="432511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6B8E4E"/>
                </a:solidFill>
              </a:rPr>
              <a:t>136.80 s</a:t>
            </a:r>
            <a:endParaRPr lang="en-US" sz="2300" dirty="0">
              <a:solidFill>
                <a:srgbClr val="6B8E4E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5029200" y="478231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temps total v4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046720" y="4160520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6B8E4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8183880" y="432511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6B8E4E"/>
                </a:solidFill>
              </a:rPr>
              <a:t>1.368 s</a:t>
            </a:r>
            <a:endParaRPr lang="en-US" sz="2300" dirty="0">
              <a:solidFill>
                <a:srgbClr val="6B8E4E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8183880" y="478231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temps moyen v4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4400" y="56235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8E4E"/>
                </a:solidFill>
              </a:rPr>
              <a:t>v4 = première version entièrement stable sur les 100 conjectures.</a:t>
            </a:r>
            <a:endParaRPr lang="en-US" sz="1600" dirty="0">
              <a:solidFill>
                <a:srgbClr val="6B8E4E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FINALE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B1C1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v5 : accélération par population adaptative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1C1E"/>
                </a:solidFill>
              </a:rPr>
              <a:t>Constat : une grande population aide certains cas fragiles, mais ralentit inutilement beaucoup de cas simples.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25880" y="2240280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49A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1463040" y="24048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C49A45"/>
                </a:solidFill>
              </a:rPr>
              <a:t>30</a:t>
            </a:r>
            <a:endParaRPr lang="en-US" sz="2300" dirty="0">
              <a:solidFill>
                <a:srgbClr val="C49A45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463040" y="28620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majorité des conjectures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325880" y="34930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E6A63"/>
                </a:solidFill>
              </a:rPr>
              <a:t>par défaut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2240280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49A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800600" y="24048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C49A45"/>
                </a:solidFill>
              </a:rPr>
              <a:t>60</a:t>
            </a:r>
            <a:endParaRPr lang="en-US" sz="2300" dirty="0">
              <a:solidFill>
                <a:srgbClr val="C49A45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800600" y="28620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domination, spectral, clique/degré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63440" y="34930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E6A63"/>
                </a:solidFill>
              </a:rPr>
              <a:t>couples sensibles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01000" y="2240280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49A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138160" y="24048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C49A45"/>
                </a:solidFill>
              </a:rPr>
              <a:t>120</a:t>
            </a:r>
            <a:endParaRPr lang="en-US" sz="2300" dirty="0">
              <a:solidFill>
                <a:srgbClr val="C49A45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8138160" y="28620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density / proximity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001000" y="34930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E6A63"/>
                </a:solidFill>
              </a:rPr>
              <a:t>cas exceptionnel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4400" y="5074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49A45"/>
                </a:solidFill>
              </a:rPr>
              <a:t>La v5 ne change pas les familles de graphes : elle ajuste seulement l’effort de recherche.</a:t>
            </a:r>
            <a:endParaRPr lang="en-US" sz="2000" dirty="0">
              <a:solidFill>
                <a:srgbClr val="C49A45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COMPARAISON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B1C1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Résultats finaux</a:t>
            </a:r>
            <a:endParaRPr lang="en-US" sz="2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17320"/>
          <a:ext cx="10424160" cy="2834640"/>
        </p:xfrm>
        <a:graphic>
          <a:graphicData uri="http://schemas.openxmlformats.org/drawingml/2006/table">
            <a:tbl>
              <a:tblPr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Méthode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Trouvé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Temps total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Temps moyen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Heuristique v4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100/100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136.80 s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1.368 s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Heuristique v5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100/100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127.94 s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1.279 s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FunSearch GPT-5.5 cand. 006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100/100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157.50 s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1.575 s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FunSearch DeepSeek cand. 014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100/100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166.64 s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C1E"/>
                          </a:solidFill>
                        </a:rPr>
                        <a:t>1.666 s</a:t>
                      </a:r>
                      <a:endParaRPr lang="en-US" sz="13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" y="1417320"/>
            <a:ext cx="10652760" cy="566928"/>
          </a:xfrm>
          <a:prstGeom prst="rect">
            <a:avLst/>
          </a:prstGeom>
          <a:solidFill>
            <a:srgbClr val="216E6B"/>
          </a:solidFill>
          <a:ln w="12700">
            <a:solidFill>
              <a:srgbClr val="216E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914400" y="498348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06E6B"/>
                </a:solidFill>
              </a:rPr>
              <a:t>Gain v5 vs v4 : -8.86 s tout en gardant 100/100</a:t>
            </a:r>
            <a:endParaRPr lang="en-US" sz="2400" dirty="0">
              <a:solidFill>
                <a:srgbClr val="306E6B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PARTIE 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B1C1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FunSearch : utile, mais pas meilleur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77240" y="1325880"/>
            <a:ext cx="33832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77240" y="1325880"/>
            <a:ext cx="73152" cy="297180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1005840" y="149047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Ce que ça fait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1856232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Le modèle propose une fonction de score, évaluée automatiquement par le même moteur que la Partie 1.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434840" y="1325880"/>
            <a:ext cx="33832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434840" y="1325880"/>
            <a:ext cx="73152" cy="2971800"/>
          </a:xfrm>
          <a:prstGeom prst="rect">
            <a:avLst/>
          </a:prstGeom>
          <a:solidFill>
            <a:srgbClr val="6B8E4E"/>
          </a:solidFill>
          <a:ln w="12700">
            <a:solidFill>
              <a:srgbClr val="6B8E4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663440" y="149047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Ce qui marche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63440" y="1856232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Des candidats atteignent 100/100 : GPT-5.5 candidate 006 et DeepSeek candidate 014.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092440" y="1325880"/>
            <a:ext cx="33832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8092440" y="1325880"/>
            <a:ext cx="73152" cy="2971800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321040" y="149047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Limite observée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21040" y="1856232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Aucun candidat FunSearch ne bat l’heuristique manuelle v5 en temps total.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868680" y="5074920"/>
            <a:ext cx="10469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B1C1E"/>
                </a:solidFill>
              </a:rPr>
              <a:t>Conclusion : FunSearch valide l’architecture, mais le gain principal vient des familles initiales.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 QUE LE RAPPORT MONTRE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B1C1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Analyse scientifique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51663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77240" y="1234440"/>
            <a:ext cx="73152" cy="1874520"/>
          </a:xfrm>
          <a:prstGeom prst="rect">
            <a:avLst/>
          </a:prstGeom>
          <a:solidFill>
            <a:srgbClr val="6B8E4E"/>
          </a:solidFill>
          <a:ln w="12700">
            <a:solidFill>
              <a:srgbClr val="6B8E4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1005840" y="13990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Conjectures faciles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176479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Familles extrémales simples : cliques, chemins, araignées, doubles étoiles.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1663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263640" y="1234440"/>
            <a:ext cx="73152" cy="1874520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492240" y="13990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Conjectures difficiles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92240" y="176479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Distances, domination, domination indépendante, domination totale, valeurs propres.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77240" y="3703320"/>
            <a:ext cx="106527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77240" y="3703320"/>
            <a:ext cx="73152" cy="118872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1005840" y="386791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1C1E"/>
                </a:solidFill>
              </a:rPr>
              <a:t>Correction importante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42336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6A63"/>
                </a:solidFill>
              </a:rPr>
              <a:t>Les conventions du benchmark sont réciproques : proximity = 1 / max average distance ; remoteness = 1 / min average distance.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868680" y="53949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83A3A"/>
                </a:solidFill>
              </a:rPr>
              <a:t>Une partie de la difficulté venait des invariants et de leurs conventions, pas seulement de la recherche.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6E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B1C1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Message final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21945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051560" y="15819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16E6B"/>
                </a:solidFill>
              </a:rPr>
              <a:t>v5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51560" y="20391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meilleur résultat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0" y="1417320"/>
            <a:ext cx="21945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794760" y="15819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B85C38"/>
                </a:solidFill>
              </a:rPr>
              <a:t>127.94 s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794760" y="20391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score final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0" y="1417320"/>
            <a:ext cx="21945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537960" y="15819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6B8E4E"/>
                </a:solidFill>
              </a:rPr>
              <a:t>100/100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6537960" y="20391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validité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144000" y="1417320"/>
            <a:ext cx="21945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281160" y="15819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3D5A80"/>
                </a:solidFill>
              </a:rPr>
              <a:t>-8.86 s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9281160" y="20391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E6A63"/>
                </a:solidFill>
              </a:rPr>
              <a:t>gain vs v4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51560" y="3063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1C1E"/>
                </a:solidFill>
              </a:rPr>
              <a:t>Le facteur clé n’est pas seulement le score : c’est l’espace de graphes que l’on donne à explorer.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63040" y="4251960"/>
            <a:ext cx="94183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800" dirty="0">
                <a:solidFill>
                  <a:srgbClr val="183A3A"/>
                </a:solidFill>
              </a:rPr>
              <a:t>Les graines structurelles placent la recherche près des contre-exemples.</a:t>
            </a:r>
            <a:endParaRPr lang="en-US" sz="1800" dirty="0"/>
          </a:p>
          <a:p>
            <a:r>
              <a:rPr lang="en-US" sz="1800" dirty="0">
                <a:solidFill>
                  <a:srgbClr val="183A3A"/>
                </a:solidFill>
              </a:rPr>
              <a:t>Les mutations exploitent localement ces bonnes formes.</a:t>
            </a:r>
            <a:endParaRPr lang="en-US" sz="1800" dirty="0"/>
          </a:p>
          <a:p>
            <a:r>
              <a:rPr lang="en-US" sz="1800" dirty="0">
                <a:solidFill>
                  <a:srgbClr val="183A3A"/>
                </a:solidFill>
              </a:rPr>
              <a:t>La population adaptative réduit le temps sans perdre la validation stricte.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746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651</TotalTime>
  <Words>764</Words>
  <Application>Microsoft Macintosh PowerPoint</Application>
  <PresentationFormat>Grand écran</PresentationFormat>
  <Paragraphs>172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Université Paris Nanterre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GraphBench - Algorithm and results</dc:title>
  <dc:subject>GraphBench algorithm presentation</dc:subject>
  <dc:creator>Amin Miri</dc:creator>
  <cp:lastModifiedBy>Bibi Marie</cp:lastModifiedBy>
  <cp:revision>3</cp:revision>
  <dcterms:created xsi:type="dcterms:W3CDTF">2026-05-19T20:06:37Z</dcterms:created>
  <dcterms:modified xsi:type="dcterms:W3CDTF">2026-05-20T07:09:58Z</dcterms:modified>
</cp:coreProperties>
</file>