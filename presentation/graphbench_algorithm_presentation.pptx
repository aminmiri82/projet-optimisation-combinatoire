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45936"/>
            <a:ext cx="11201400" cy="0"/>
          </a:xfrm>
          <a:prstGeom prst="line">
            <a:avLst/>
          </a:prstGeom>
          <a:noFill/>
          <a:ln w="12700">
            <a:solidFill>
              <a:srgbClr val="D8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GraphBench - Optimisation combinatoire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 CONDUCTEUR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Notre algorithme en une idée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A3A"/>
                </a:solidFill>
              </a:rPr>
              <a:t>Une recherche par population qui démarre volontairement près de familles extrémales, puis affine localement.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85800" y="2761488"/>
            <a:ext cx="1901952" cy="310896"/>
          </a:xfrm>
          <a:prstGeom prst="roundRect">
            <a:avLst>
              <a:gd name="adj" fmla="val 11765"/>
            </a:avLst>
          </a:prstGeom>
          <a:solidFill>
            <a:srgbClr val="216E6B"/>
          </a:solidFill>
          <a:ln w="12700">
            <a:solidFill>
              <a:srgbClr val="216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8300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graines structurelles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2761488"/>
            <a:ext cx="1901952" cy="310896"/>
          </a:xfrm>
          <a:prstGeom prst="roundRect">
            <a:avLst>
              <a:gd name="adj" fmla="val 11765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28300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évaluation par violation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66360" y="2761488"/>
            <a:ext cx="1901952" cy="310896"/>
          </a:xfrm>
          <a:prstGeom prst="roundRect">
            <a:avLst>
              <a:gd name="adj" fmla="val 11765"/>
            </a:avLst>
          </a:prstGeom>
          <a:solidFill>
            <a:srgbClr val="C49A45"/>
          </a:solidFill>
          <a:ln w="12700">
            <a:solidFill>
              <a:srgbClr val="C49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6088" y="28300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sélection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06640" y="2761488"/>
            <a:ext cx="1901952" cy="310896"/>
          </a:xfrm>
          <a:prstGeom prst="roundRect">
            <a:avLst>
              <a:gd name="adj" fmla="val 11765"/>
            </a:avLst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28300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mutations locales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646920" y="2761488"/>
            <a:ext cx="1901952" cy="310896"/>
          </a:xfrm>
          <a:prstGeom prst="roundRect">
            <a:avLst>
              <a:gd name="adj" fmla="val 11765"/>
            </a:avLst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6648" y="28300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validation stricte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80160" y="42245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1C1E"/>
                </a:solidFill>
              </a:rPr>
              <a:t>Résultat final v5 : 100/100 contre-exemples valides en 127.94 s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1920240" y="498348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5148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16E6B"/>
                </a:solidFill>
              </a:rPr>
              <a:t>100/100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2057400" y="5605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contre-exemples validés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83480" y="498348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5148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85C38"/>
                </a:solidFill>
              </a:rPr>
              <a:t>127.94 s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120640" y="5605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temps total v5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46720" y="498348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5148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5A80"/>
                </a:solidFill>
              </a:rPr>
              <a:t>1.279 s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8183880" y="5605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temps moyen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Évolution de l’algorithme : v1 à v5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BFAF7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819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A63"/>
                </a:solidFill>
              </a:rPr>
              <a:t>v1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81328" y="156362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1C1E"/>
                </a:solidFill>
              </a:rPr>
              <a:t>Génération aléatoire par classe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78040" y="1554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A63"/>
                </a:solidFill>
              </a:rPr>
              <a:t>Pipeline de 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865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6E6B"/>
                </a:solidFill>
              </a:rPr>
              <a:t>v2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81328" y="2368296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1C1E"/>
                </a:solidFill>
              </a:rPr>
              <a:t>Graines simples : chemins, cycles, cliques, araignées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78040" y="2359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A63"/>
                </a:solidFill>
              </a:rPr>
              <a:t>Meilleur point de départ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BFAF7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912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80"/>
                </a:solidFill>
              </a:rPr>
              <a:t>v3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81328" y="31729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1C1E"/>
                </a:solidFill>
              </a:rPr>
              <a:t>Familles ciblées : doubles étoiles, cliques endommagées, clique-chemin-clique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78040" y="31638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A63"/>
                </a:solidFill>
              </a:rPr>
              <a:t>Gros gain sur les invariants difficiles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31336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95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8E4E"/>
                </a:solidFill>
              </a:rPr>
              <a:t>v4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81328" y="397764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1C1E"/>
                </a:solidFill>
              </a:rPr>
              <a:t>Chemins branchés et queues triangulaires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78040" y="39684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A63"/>
                </a:solidFill>
              </a:rPr>
              <a:t>100/100 stable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36008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BFAF7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00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38"/>
                </a:solidFill>
              </a:rPr>
              <a:t>v5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81328" y="47823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1C1E"/>
                </a:solidFill>
              </a:rPr>
              <a:t>Population adaptative : 30, 60 ou 120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78040" y="47731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A63"/>
                </a:solidFill>
              </a:rPr>
              <a:t>Même 100/100, plus rapide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A3A"/>
                </a:solidFill>
              </a:rPr>
              <a:t>Lecture orale : chaque version corrige une faiblesse observée, pas un simple changement de code.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PREMIÈRE VERSION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v1 : baseline aléatoire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3383280"/>
          </a:xfrm>
          <a:prstGeom prst="rect">
            <a:avLst/>
          </a:prstGeom>
          <a:solidFill>
            <a:srgbClr val="6E6A63"/>
          </a:solidFill>
          <a:ln w="12700">
            <a:solidFill>
              <a:srgbClr val="6E6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Ce que faisait v1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1947672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Générer des graphes selon la classe demandée, puis réparer si les contraintes n’étaient pas respectées.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417320"/>
            <a:ext cx="73152" cy="33832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Ce que ça validait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09160" y="1947672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Le chargement du benchmark, le calcul des invariants, la formule de violation et la sortie graph6.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417320"/>
            <a:ext cx="73152" cy="33832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Limite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58200" y="1947672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Exploration trop dépendante du hasard : les structures extrémales rares apparaissent difficilement.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</a:rPr>
              <a:t>Rôle de v1 : construire une base fiable, pas encore optimiser le score.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INITIALE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v2 : premières graines structurelles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0749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73152" cy="1170432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90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Chemins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1856232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Distances, diamètre, rayon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0749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325880"/>
            <a:ext cx="73152" cy="117043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490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Cycles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37960" y="1856232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Formes régulières simples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50749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26080"/>
            <a:ext cx="73152" cy="1170432"/>
          </a:xfrm>
          <a:prstGeom prst="rect">
            <a:avLst/>
          </a:prstGeom>
          <a:solidFill>
            <a:srgbClr val="C49A45"/>
          </a:solidFill>
          <a:ln w="12700">
            <a:solidFill>
              <a:srgbClr val="C49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90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Cliques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3456432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Densité, degré moyen, clique number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50749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926080"/>
            <a:ext cx="73152" cy="1170432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090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Araignées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3456432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Domination totale vs couplage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0058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A3A"/>
                </a:solidFill>
              </a:rPr>
              <a:t>Changement d’idée : on ne laisse plus le hasard découvrir seul les bonnes familles.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CIBLAGE DES INVARIANTS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v3 : familles plus spécialisées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33832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73152" cy="1078992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Doubles étoiles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domination, couverture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53128" y="1298448"/>
            <a:ext cx="33832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3128" y="1298448"/>
            <a:ext cx="73152" cy="107899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Cliques endommagées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81728" y="1828800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densité, degré max, triangles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220456" y="1298448"/>
            <a:ext cx="33832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0456" y="1298448"/>
            <a:ext cx="73152" cy="107899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Graphes clairsemés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49056" y="1828800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distance, rayon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85800" y="2871216"/>
            <a:ext cx="33832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871216"/>
            <a:ext cx="73152" cy="1078992"/>
          </a:xfrm>
          <a:prstGeom prst="rect">
            <a:avLst/>
          </a:prstGeom>
          <a:solidFill>
            <a:srgbClr val="C49A45"/>
          </a:solidFill>
          <a:ln w="12700">
            <a:solidFill>
              <a:srgbClr val="C49A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035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Triangles avec chemins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3401568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sans-griffe, distance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453128" y="2871216"/>
            <a:ext cx="33832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53128" y="2871216"/>
            <a:ext cx="73152" cy="1078992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035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Clique-chemin-clique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81728" y="3401568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spectral + goulot de distance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C1E"/>
                </a:solidFill>
              </a:rPr>
              <a:t>Ici, la population initiale devient un outil mathématique : chaque famille vise une zone du benchmark.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DERNIERS CAS DIFFICILES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v4 : stabilisation du 100/100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892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73152" cy="2057400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904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Chemins branchés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185623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Arbres avec effets forts sur domination indépendante, feuilles et indices de Zagreb.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46520" y="1325880"/>
            <a:ext cx="4892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325880"/>
            <a:ext cx="73152" cy="20574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4904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Queues triangulaires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0" y="185623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Graphes proches du sans-griffe, utiles pour contrôler distances et effets spectraux.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1737360" y="416052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43251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16E6B"/>
                </a:solidFill>
              </a:rPr>
              <a:t>100/100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874520" y="47823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contre-exemples validés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92040" y="416052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3251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5A80"/>
                </a:solidFill>
              </a:rPr>
              <a:t>136.80 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029200" y="47823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temps total v4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416052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43251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49A45"/>
                </a:solidFill>
              </a:rPr>
              <a:t>1.368 s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183880" y="47823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temps moyen v4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56235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A3A"/>
                </a:solidFill>
              </a:rPr>
              <a:t>v4 = première version entièrement stable sur les 100 conjectures.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FINALE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v5 : accélération par population adaptative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C1E"/>
                </a:solidFill>
              </a:rPr>
              <a:t>Constat : une grande population aide certains cas fragiles, mais ralentit inutilement beaucoup de cas simples.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25880" y="224028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404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16E6B"/>
                </a:solidFill>
              </a:rPr>
              <a:t>30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463040" y="2862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majorité des conjectures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34930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A63"/>
                </a:solidFill>
              </a:rPr>
              <a:t>par défaut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404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49A45"/>
                </a:solidFill>
              </a:rPr>
              <a:t>60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800600" y="2862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domination, spectral, clique/degré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34930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A63"/>
                </a:solidFill>
              </a:rPr>
              <a:t>couples sensibles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224028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404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85C38"/>
                </a:solidFill>
              </a:rPr>
              <a:t>120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138160" y="2862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density / proximity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01000" y="34930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A63"/>
                </a:solidFill>
              </a:rPr>
              <a:t>cas exceptionnel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3A3A"/>
                </a:solidFill>
              </a:rPr>
              <a:t>La v5 ne change pas les familles de graphes : elle ajuste seulement l’effort de recherche.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COMPARAISON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finaux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52760" cy="3063240"/>
        </p:xfrm>
        <a:graphic>
          <a:graphicData uri="http://schemas.openxmlformats.org/drawingml/2006/table">
            <a:tbl>
              <a:tblPr/>
              <a:tblGrid>
                <a:gridCol w="5029200"/>
                <a:gridCol w="1554480"/>
                <a:gridCol w="1920240"/>
                <a:gridCol w="1920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Méthode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Trouvé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Temps total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Temps moyen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Heuristique v4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100/100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136.80 s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1.368 s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Heuristique v5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100/100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127.94 s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1.279 s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FunSearch GPT-5.5 cand. 006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100/100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157.50 s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1.575 s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FunSearch DeepSeek cand. 014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100/100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166.64 s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C1E"/>
                          </a:solidFill>
                        </a:rPr>
                        <a:t>1.666 s</a:t>
                      </a:r>
                      <a:endParaRPr lang="en-US" sz="13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" y="1417320"/>
            <a:ext cx="10652760" cy="5669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C38"/>
                </a:solidFill>
              </a:rPr>
              <a:t>Gain v5 vs v4 : -8.86 s tout en gardant 100/100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FunSearch : utile, mais pas meilleur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38328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73152" cy="297180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Ce que ça fait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1856232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Le modèle propose une fonction de score, évaluée automatiquement par le même moteur que la Partie 1.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38328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73152" cy="2971800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Ce qui marche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3440" y="1856232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Des candidats atteignent 100/100 : GPT-5.5 candidate 006 et DeepSeek candidate 014.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38328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325880"/>
            <a:ext cx="73152" cy="29718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Limite observée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1856232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Aucun candidat FunSearch ne bat l’heuristique manuelle v5 en temps total.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68680" y="507492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</a:rPr>
              <a:t>Conclusion : FunSearch valide l’architecture, mais le gain principal vient des familles initiales.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 RAPPORT MONTRE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 scientifique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73152" cy="1874520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99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Conjectures faciles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176479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Familles extrémales simples : cliques, chemins, araignées, doubles étoiles.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234440"/>
            <a:ext cx="73152" cy="187452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99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Conjectures difficiles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176479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Distances, domination, domination indépendante, domination totale, valeurs propres.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10652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703320"/>
            <a:ext cx="73152" cy="118872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6791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</a:rPr>
              <a:t>Correction importante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2336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E6A63"/>
                </a:solidFill>
              </a:rPr>
              <a:t>Les conventions du benchmark sont réciproques : proximity = 1 / max average distance ; remoteness = 1 / min average distance.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68680" y="5394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A3A"/>
                </a:solidFill>
              </a:rPr>
              <a:t>Une partie de la difficulté venait des invariants et de leurs conventions, pas seulement de la recherche.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6E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1C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Message final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16E6B"/>
                </a:solidFill>
              </a:rPr>
              <a:t>v5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2039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meilleur résultat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0" y="14173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85C38"/>
                </a:solidFill>
              </a:rPr>
              <a:t>127.94 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794760" y="2039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score final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8E4E"/>
                </a:solidFill>
              </a:rPr>
              <a:t>100/100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537960" y="2039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validité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0" y="14173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5A80"/>
                </a:solidFill>
              </a:rPr>
              <a:t>-8.86 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281160" y="2039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3"/>
                </a:solidFill>
              </a:rPr>
              <a:t>gain vs v4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C1E"/>
                </a:solidFill>
              </a:rPr>
              <a:t>Le facteur clé n’est pas seulement le score : c’est l’espace de graphes que l’on donne à explorer.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4251960"/>
            <a:ext cx="9418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83A3A"/>
                </a:solidFill>
              </a:rPr>
              <a:t>Les graines structurelles placent la recherche près des contre-exemples.</a:t>
            </a:r>
            <a:endParaRPr lang="en-US" sz="1800" dirty="0"/>
          </a:p>
          <a:p>
            <a:r>
              <a:rPr lang="en-US" sz="1800" dirty="0">
                <a:solidFill>
                  <a:srgbClr val="183A3A"/>
                </a:solidFill>
              </a:rPr>
              <a:t>Les mutations exploitent localement ces bonnes formes.</a:t>
            </a:r>
            <a:endParaRPr lang="en-US" sz="1800" dirty="0"/>
          </a:p>
          <a:p>
            <a:r>
              <a:rPr lang="en-US" sz="1800" dirty="0">
                <a:solidFill>
                  <a:srgbClr val="183A3A"/>
                </a:solidFill>
              </a:rPr>
              <a:t>La population adaptative réduit le temps sans perdre la validation stricte.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4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Université Paris Nanterre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GraphBench - Algorithm and results</dc:title>
  <dc:subject>GraphBench algorithm presentation</dc:subject>
  <dc:creator>Amin Miri</dc:creator>
  <cp:lastModifiedBy>Amin Miri</cp:lastModifiedBy>
  <cp:revision>1</cp:revision>
  <dcterms:created xsi:type="dcterms:W3CDTF">2026-05-19T20:06:37Z</dcterms:created>
  <dcterms:modified xsi:type="dcterms:W3CDTF">2026-05-19T20:06:37Z</dcterms:modified>
</cp:coreProperties>
</file>