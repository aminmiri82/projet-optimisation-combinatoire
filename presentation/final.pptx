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 varScale="1">
        <p:scale>
          <a:sx n="117" d="100"/>
          <a:sy n="117" d="100"/>
        </p:scale>
        <p:origin x="3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8" name="Shape 2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ptos"/>
      </a:defRPr>
    </a:lvl1pPr>
    <a:lvl2pPr indent="228600" latinLnBrk="0">
      <a:defRPr sz="1200">
        <a:latin typeface="+mn-lt"/>
        <a:ea typeface="+mn-ea"/>
        <a:cs typeface="+mn-cs"/>
        <a:sym typeface="Aptos"/>
      </a:defRPr>
    </a:lvl2pPr>
    <a:lvl3pPr indent="457200" latinLnBrk="0">
      <a:defRPr sz="1200">
        <a:latin typeface="+mn-lt"/>
        <a:ea typeface="+mn-ea"/>
        <a:cs typeface="+mn-cs"/>
        <a:sym typeface="Aptos"/>
      </a:defRPr>
    </a:lvl3pPr>
    <a:lvl4pPr indent="685800" latinLnBrk="0">
      <a:defRPr sz="1200">
        <a:latin typeface="+mn-lt"/>
        <a:ea typeface="+mn-ea"/>
        <a:cs typeface="+mn-cs"/>
        <a:sym typeface="Aptos"/>
      </a:defRPr>
    </a:lvl4pPr>
    <a:lvl5pPr indent="914400" latinLnBrk="0">
      <a:defRPr sz="1200">
        <a:latin typeface="+mn-lt"/>
        <a:ea typeface="+mn-ea"/>
        <a:cs typeface="+mn-cs"/>
        <a:sym typeface="Aptos"/>
      </a:defRPr>
    </a:lvl5pPr>
    <a:lvl6pPr indent="1143000" latinLnBrk="0">
      <a:defRPr sz="1200">
        <a:latin typeface="+mn-lt"/>
        <a:ea typeface="+mn-ea"/>
        <a:cs typeface="+mn-cs"/>
        <a:sym typeface="Aptos"/>
      </a:defRPr>
    </a:lvl6pPr>
    <a:lvl7pPr indent="1371600" latinLnBrk="0">
      <a:defRPr sz="1200">
        <a:latin typeface="+mn-lt"/>
        <a:ea typeface="+mn-ea"/>
        <a:cs typeface="+mn-cs"/>
        <a:sym typeface="Aptos"/>
      </a:defRPr>
    </a:lvl7pPr>
    <a:lvl8pPr indent="1600200" latinLnBrk="0">
      <a:defRPr sz="1200">
        <a:latin typeface="+mn-lt"/>
        <a:ea typeface="+mn-ea"/>
        <a:cs typeface="+mn-cs"/>
        <a:sym typeface="Aptos"/>
      </a:defRPr>
    </a:lvl8pPr>
    <a:lvl9pPr indent="1828800" latinLnBrk="0">
      <a:defRPr sz="1200">
        <a:latin typeface="+mn-lt"/>
        <a:ea typeface="+mn-ea"/>
        <a:cs typeface="+mn-cs"/>
        <a:sym typeface="Apto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16E6B"/>
          </a:solidFill>
          <a:ln w="12700">
            <a:solidFill>
              <a:srgbClr val="216E6B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" name="Shape 1"/>
          <p:cNvSpPr/>
          <p:nvPr/>
        </p:nvSpPr>
        <p:spPr>
          <a:xfrm>
            <a:off x="502919" y="6345935"/>
            <a:ext cx="11201402" cy="1"/>
          </a:xfrm>
          <a:prstGeom prst="line">
            <a:avLst/>
          </a:prstGeom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" name="Text 2"/>
          <p:cNvSpPr txBox="1"/>
          <p:nvPr/>
        </p:nvSpPr>
        <p:spPr>
          <a:xfrm>
            <a:off x="502919" y="6483604"/>
            <a:ext cx="51206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7A746B"/>
                </a:solidFill>
              </a:defRPr>
            </a:lvl1pPr>
          </a:lstStyle>
          <a:p>
            <a:r>
              <a:t>GraphBench - Optimisation combinatoire</a:t>
            </a:r>
          </a:p>
        </p:txBody>
      </p:sp>
      <p:sp>
        <p:nvSpPr>
          <p:cNvPr id="2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292840" y="6419088"/>
            <a:ext cx="217151" cy="2184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50000">
              <a:srgbClr val="FAFAFA"/>
            </a:gs>
            <a:gs pos="100000">
              <a:srgbClr val="CFCFC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737600" y="6356350"/>
            <a:ext cx="2844800" cy="36830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rgbClr val="7A746B"/>
                </a:solidFill>
              </a:defRPr>
            </a:lvl1pPr>
          </a:lstStyle>
          <a:p>
            <a:fld id="{86CB4B4D-7CA3-9044-876B-883B54F8677D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ZoneTexte 1"/>
          <p:cNvSpPr txBox="1"/>
          <p:nvPr/>
        </p:nvSpPr>
        <p:spPr>
          <a:xfrm>
            <a:off x="840827" y="2274838"/>
            <a:ext cx="5707119" cy="2288541"/>
          </a:xfrm>
          <a:prstGeom prst="rect">
            <a:avLst/>
          </a:prstGeom>
          <a:solidFill>
            <a:srgbClr val="FFFFFF"/>
          </a:solidFill>
          <a:ln w="12700">
            <a:solidFill>
              <a:srgbClr val="306E6B"/>
            </a:solidFill>
            <a:miter/>
          </a:ln>
          <a:effectLst>
            <a:softEdge rad="127000"/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7200">
                <a:solidFill>
                  <a:srgbClr val="306E6B"/>
                </a:solidFill>
              </a:defRPr>
            </a:lvl1pPr>
          </a:lstStyle>
          <a:p>
            <a:r>
              <a:rPr dirty="0" err="1"/>
              <a:t>Optimisation</a:t>
            </a:r>
            <a:r>
              <a:rPr dirty="0"/>
              <a:t> </a:t>
            </a:r>
            <a:r>
              <a:rPr dirty="0" err="1"/>
              <a:t>Combinatoire</a:t>
            </a:r>
            <a:endParaRPr dirty="0"/>
          </a:p>
        </p:txBody>
      </p:sp>
      <p:sp>
        <p:nvSpPr>
          <p:cNvPr id="31" name="ZoneTexte 4"/>
          <p:cNvSpPr txBox="1"/>
          <p:nvPr/>
        </p:nvSpPr>
        <p:spPr>
          <a:xfrm>
            <a:off x="886548" y="5473272"/>
            <a:ext cx="3941905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>
                <a:solidFill>
                  <a:srgbClr val="306E6B"/>
                </a:solidFill>
              </a:defRPr>
            </a:pPr>
            <a:r>
              <a:t>20 Mai 2026</a:t>
            </a:r>
            <a:endParaRPr sz="7200"/>
          </a:p>
          <a:p>
            <a:pPr>
              <a:defRPr sz="1600">
                <a:solidFill>
                  <a:srgbClr val="306E6B"/>
                </a:solidFill>
              </a:defRPr>
            </a:pPr>
            <a:r>
              <a:t>MIRI Seyed Amineddin | BIBI Leaticia M</a:t>
            </a:r>
          </a:p>
        </p:txBody>
      </p:sp>
      <p:pic>
        <p:nvPicPr>
          <p:cNvPr id="32" name="Image 6" descr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828" y="562180"/>
            <a:ext cx="2572626" cy="550385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Picture 4" descr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6513" y="178677"/>
            <a:ext cx="4535488" cy="6858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 txBox="1"/>
          <p:nvPr/>
        </p:nvSpPr>
        <p:spPr>
          <a:xfrm>
            <a:off x="594359" y="398272"/>
            <a:ext cx="53035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216E6B"/>
                </a:solidFill>
              </a:defRPr>
            </a:lvl1pPr>
          </a:lstStyle>
          <a:p>
            <a:r>
              <a:t>Optimisation Combinatoire</a:t>
            </a:r>
          </a:p>
        </p:txBody>
      </p:sp>
      <p:sp>
        <p:nvSpPr>
          <p:cNvPr id="36" name="Text 1"/>
          <p:cNvSpPr txBox="1"/>
          <p:nvPr/>
        </p:nvSpPr>
        <p:spPr>
          <a:xfrm>
            <a:off x="594359" y="621791"/>
            <a:ext cx="1078992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500" b="1">
                <a:solidFill>
                  <a:srgbClr val="1B1C1E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r>
              <a:t>Notre algorithme en une idée</a:t>
            </a:r>
          </a:p>
        </p:txBody>
      </p:sp>
      <p:sp>
        <p:nvSpPr>
          <p:cNvPr id="37" name="Text 2"/>
          <p:cNvSpPr txBox="1"/>
          <p:nvPr/>
        </p:nvSpPr>
        <p:spPr>
          <a:xfrm>
            <a:off x="713231" y="1417319"/>
            <a:ext cx="10698482" cy="606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68680">
              <a:lnSpc>
                <a:spcPct val="90000"/>
              </a:lnSpc>
              <a:defRPr sz="1994" b="1">
                <a:solidFill>
                  <a:srgbClr val="183A3A"/>
                </a:solidFill>
              </a:defRPr>
            </a:lvl1pPr>
          </a:lstStyle>
          <a:p>
            <a:r>
              <a:t>Une recherche par population qui démarre volontairement près de familles extrémales, puis affine localement.</a:t>
            </a:r>
          </a:p>
        </p:txBody>
      </p:sp>
      <p:sp>
        <p:nvSpPr>
          <p:cNvPr id="38" name="Shape 3"/>
          <p:cNvSpPr/>
          <p:nvPr/>
        </p:nvSpPr>
        <p:spPr>
          <a:xfrm>
            <a:off x="685800" y="2761488"/>
            <a:ext cx="1901952" cy="310897"/>
          </a:xfrm>
          <a:prstGeom prst="roundRect">
            <a:avLst>
              <a:gd name="adj" fmla="val 11765"/>
            </a:avLst>
          </a:prstGeom>
          <a:solidFill>
            <a:srgbClr val="306E6B"/>
          </a:solidFill>
          <a:ln w="12700">
            <a:solidFill>
              <a:srgbClr val="216E6B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" name="Text 4"/>
          <p:cNvSpPr txBox="1"/>
          <p:nvPr/>
        </p:nvSpPr>
        <p:spPr>
          <a:xfrm>
            <a:off x="795528" y="2830067"/>
            <a:ext cx="1682496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800" b="1">
                <a:solidFill>
                  <a:srgbClr val="FFFFFF"/>
                </a:solidFill>
              </a:defRPr>
            </a:lvl1pPr>
          </a:lstStyle>
          <a:p>
            <a:r>
              <a:t>graines structurelles</a:t>
            </a:r>
          </a:p>
        </p:txBody>
      </p:sp>
      <p:sp>
        <p:nvSpPr>
          <p:cNvPr id="40" name="Shape 5"/>
          <p:cNvSpPr/>
          <p:nvPr/>
        </p:nvSpPr>
        <p:spPr>
          <a:xfrm>
            <a:off x="2926079" y="2761488"/>
            <a:ext cx="1901953" cy="310897"/>
          </a:xfrm>
          <a:prstGeom prst="roundRect">
            <a:avLst>
              <a:gd name="adj" fmla="val 11765"/>
            </a:avLst>
          </a:prstGeom>
          <a:solidFill>
            <a:srgbClr val="306E6B"/>
          </a:solidFill>
          <a:ln w="12700">
            <a:solidFill>
              <a:srgbClr val="3D5A8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" name="Text 6"/>
          <p:cNvSpPr txBox="1"/>
          <p:nvPr/>
        </p:nvSpPr>
        <p:spPr>
          <a:xfrm>
            <a:off x="3035807" y="2830067"/>
            <a:ext cx="1682497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800" b="1">
                <a:solidFill>
                  <a:srgbClr val="FFFFFF"/>
                </a:solidFill>
              </a:defRPr>
            </a:lvl1pPr>
          </a:lstStyle>
          <a:p>
            <a:r>
              <a:t>évaluation par violation</a:t>
            </a:r>
          </a:p>
        </p:txBody>
      </p:sp>
      <p:sp>
        <p:nvSpPr>
          <p:cNvPr id="42" name="Shape 7"/>
          <p:cNvSpPr/>
          <p:nvPr/>
        </p:nvSpPr>
        <p:spPr>
          <a:xfrm>
            <a:off x="5166359" y="2761488"/>
            <a:ext cx="1901953" cy="310897"/>
          </a:xfrm>
          <a:prstGeom prst="roundRect">
            <a:avLst>
              <a:gd name="adj" fmla="val 11765"/>
            </a:avLst>
          </a:prstGeom>
          <a:solidFill>
            <a:srgbClr val="306E6B"/>
          </a:solidFill>
          <a:ln w="12700">
            <a:solidFill>
              <a:srgbClr val="C49A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3" name="Text 8"/>
          <p:cNvSpPr txBox="1"/>
          <p:nvPr/>
        </p:nvSpPr>
        <p:spPr>
          <a:xfrm>
            <a:off x="5276088" y="2830067"/>
            <a:ext cx="1682497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800" b="1">
                <a:solidFill>
                  <a:srgbClr val="FFFFFF"/>
                </a:solidFill>
              </a:defRPr>
            </a:lvl1pPr>
          </a:lstStyle>
          <a:p>
            <a:r>
              <a:t>sélection</a:t>
            </a:r>
          </a:p>
        </p:txBody>
      </p:sp>
      <p:sp>
        <p:nvSpPr>
          <p:cNvPr id="44" name="Shape 9"/>
          <p:cNvSpPr/>
          <p:nvPr/>
        </p:nvSpPr>
        <p:spPr>
          <a:xfrm>
            <a:off x="7406640" y="2761488"/>
            <a:ext cx="1901953" cy="310897"/>
          </a:xfrm>
          <a:prstGeom prst="roundRect">
            <a:avLst>
              <a:gd name="adj" fmla="val 11765"/>
            </a:avLst>
          </a:prstGeom>
          <a:solidFill>
            <a:srgbClr val="306E6B"/>
          </a:solidFill>
          <a:ln w="12700">
            <a:solidFill>
              <a:srgbClr val="B85C3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5" name="Text 10"/>
          <p:cNvSpPr txBox="1"/>
          <p:nvPr/>
        </p:nvSpPr>
        <p:spPr>
          <a:xfrm>
            <a:off x="7516368" y="2830067"/>
            <a:ext cx="1682497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800" b="1">
                <a:solidFill>
                  <a:srgbClr val="FFFFFF"/>
                </a:solidFill>
              </a:defRPr>
            </a:lvl1pPr>
          </a:lstStyle>
          <a:p>
            <a:r>
              <a:t>mutations locales</a:t>
            </a:r>
          </a:p>
        </p:txBody>
      </p:sp>
      <p:sp>
        <p:nvSpPr>
          <p:cNvPr id="46" name="Shape 11"/>
          <p:cNvSpPr/>
          <p:nvPr/>
        </p:nvSpPr>
        <p:spPr>
          <a:xfrm>
            <a:off x="9646919" y="2761488"/>
            <a:ext cx="1901953" cy="310897"/>
          </a:xfrm>
          <a:prstGeom prst="roundRect">
            <a:avLst>
              <a:gd name="adj" fmla="val 11765"/>
            </a:avLst>
          </a:prstGeom>
          <a:solidFill>
            <a:srgbClr val="306E6B"/>
          </a:solidFill>
          <a:ln w="12700">
            <a:solidFill>
              <a:srgbClr val="6B8E4E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7" name="Text 12"/>
          <p:cNvSpPr txBox="1"/>
          <p:nvPr/>
        </p:nvSpPr>
        <p:spPr>
          <a:xfrm>
            <a:off x="9756647" y="2830067"/>
            <a:ext cx="1682497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800" b="1">
                <a:solidFill>
                  <a:srgbClr val="FFFFFF"/>
                </a:solidFill>
              </a:defRPr>
            </a:lvl1pPr>
          </a:lstStyle>
          <a:p>
            <a:r>
              <a:t>validation stricte</a:t>
            </a:r>
          </a:p>
        </p:txBody>
      </p:sp>
      <p:sp>
        <p:nvSpPr>
          <p:cNvPr id="48" name="Text 13"/>
          <p:cNvSpPr txBox="1"/>
          <p:nvPr/>
        </p:nvSpPr>
        <p:spPr>
          <a:xfrm>
            <a:off x="1280159" y="4308348"/>
            <a:ext cx="969264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500" b="1">
                <a:solidFill>
                  <a:srgbClr val="1B1C1E"/>
                </a:solidFill>
              </a:defRPr>
            </a:lvl1pPr>
          </a:lstStyle>
          <a:p>
            <a:r>
              <a:t>Résultat final v5 : 100/100 contre-exemples valides en 25.28 s</a:t>
            </a:r>
          </a:p>
        </p:txBody>
      </p:sp>
      <p:sp>
        <p:nvSpPr>
          <p:cNvPr id="49" name="Shape 14"/>
          <p:cNvSpPr/>
          <p:nvPr/>
        </p:nvSpPr>
        <p:spPr>
          <a:xfrm>
            <a:off x="1920239" y="4983479"/>
            <a:ext cx="2194561" cy="1051561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306E6B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0" name="Text 15"/>
          <p:cNvSpPr txBox="1"/>
          <p:nvPr/>
        </p:nvSpPr>
        <p:spPr>
          <a:xfrm>
            <a:off x="2057400" y="5148071"/>
            <a:ext cx="1920240" cy="365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2300" b="1">
                <a:solidFill>
                  <a:srgbClr val="216E6B"/>
                </a:solidFill>
              </a:defRPr>
            </a:lvl1pPr>
          </a:lstStyle>
          <a:p>
            <a:r>
              <a:t>100/100</a:t>
            </a:r>
          </a:p>
        </p:txBody>
      </p:sp>
      <p:sp>
        <p:nvSpPr>
          <p:cNvPr id="51" name="Text 16"/>
          <p:cNvSpPr txBox="1"/>
          <p:nvPr/>
        </p:nvSpPr>
        <p:spPr>
          <a:xfrm>
            <a:off x="2057400" y="5605271"/>
            <a:ext cx="192024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900" b="1">
                <a:solidFill>
                  <a:srgbClr val="6E6A63"/>
                </a:solidFill>
              </a:defRPr>
            </a:lvl1pPr>
          </a:lstStyle>
          <a:p>
            <a:r>
              <a:t>contre-exemples validés</a:t>
            </a:r>
          </a:p>
        </p:txBody>
      </p:sp>
      <p:sp>
        <p:nvSpPr>
          <p:cNvPr id="52" name="Shape 17"/>
          <p:cNvSpPr/>
          <p:nvPr/>
        </p:nvSpPr>
        <p:spPr>
          <a:xfrm>
            <a:off x="4983479" y="4983479"/>
            <a:ext cx="2194561" cy="1051561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306E6B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" name="Text 18"/>
          <p:cNvSpPr txBox="1"/>
          <p:nvPr/>
        </p:nvSpPr>
        <p:spPr>
          <a:xfrm>
            <a:off x="5120640" y="5148071"/>
            <a:ext cx="1920241" cy="365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2300" b="1">
                <a:solidFill>
                  <a:srgbClr val="306E6B"/>
                </a:solidFill>
              </a:defRPr>
            </a:lvl1pPr>
          </a:lstStyle>
          <a:p>
            <a:r>
              <a:t>25.28 s</a:t>
            </a:r>
          </a:p>
        </p:txBody>
      </p:sp>
      <p:sp>
        <p:nvSpPr>
          <p:cNvPr id="54" name="Text 19"/>
          <p:cNvSpPr txBox="1"/>
          <p:nvPr/>
        </p:nvSpPr>
        <p:spPr>
          <a:xfrm>
            <a:off x="5120640" y="5605271"/>
            <a:ext cx="192024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900" b="1">
                <a:solidFill>
                  <a:srgbClr val="6E6A63"/>
                </a:solidFill>
              </a:defRPr>
            </a:lvl1pPr>
          </a:lstStyle>
          <a:p>
            <a:r>
              <a:t>temps total v5</a:t>
            </a:r>
          </a:p>
        </p:txBody>
      </p:sp>
      <p:sp>
        <p:nvSpPr>
          <p:cNvPr id="55" name="Shape 20"/>
          <p:cNvSpPr/>
          <p:nvPr/>
        </p:nvSpPr>
        <p:spPr>
          <a:xfrm>
            <a:off x="8046719" y="4983479"/>
            <a:ext cx="2194561" cy="1051561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306E6B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6" name="Text 21"/>
          <p:cNvSpPr txBox="1"/>
          <p:nvPr/>
        </p:nvSpPr>
        <p:spPr>
          <a:xfrm>
            <a:off x="8183880" y="5148071"/>
            <a:ext cx="1920241" cy="365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2300" b="1">
                <a:solidFill>
                  <a:srgbClr val="306E6B"/>
                </a:solidFill>
              </a:defRPr>
            </a:lvl1pPr>
          </a:lstStyle>
          <a:p>
            <a:r>
              <a:t>0.253 s</a:t>
            </a:r>
          </a:p>
        </p:txBody>
      </p:sp>
      <p:sp>
        <p:nvSpPr>
          <p:cNvPr id="57" name="Text 22"/>
          <p:cNvSpPr txBox="1"/>
          <p:nvPr/>
        </p:nvSpPr>
        <p:spPr>
          <a:xfrm>
            <a:off x="8183880" y="5605271"/>
            <a:ext cx="192024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900" b="1">
                <a:solidFill>
                  <a:srgbClr val="6E6A63"/>
                </a:solidFill>
              </a:defRPr>
            </a:lvl1pPr>
          </a:lstStyle>
          <a:p>
            <a:r>
              <a:t>temps moyen</a:t>
            </a:r>
          </a:p>
        </p:txBody>
      </p:sp>
      <p:sp>
        <p:nvSpPr>
          <p:cNvPr id="58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160646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</a:t>
            </a:fld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0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16E6B"/>
          </a:solidFill>
          <a:ln w="12700">
            <a:solidFill>
              <a:srgbClr val="216E6B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1" name="Text 1"/>
          <p:cNvSpPr txBox="1"/>
          <p:nvPr/>
        </p:nvSpPr>
        <p:spPr>
          <a:xfrm>
            <a:off x="594360" y="366267"/>
            <a:ext cx="56692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216E6B"/>
                </a:solidFill>
              </a:defRPr>
            </a:lvl1pPr>
          </a:lstStyle>
          <a:p>
            <a:r>
              <a:t>FIL CONDUCTEUR</a:t>
            </a:r>
          </a:p>
        </p:txBody>
      </p:sp>
      <p:sp>
        <p:nvSpPr>
          <p:cNvPr id="62" name="Text 2"/>
          <p:cNvSpPr txBox="1"/>
          <p:nvPr/>
        </p:nvSpPr>
        <p:spPr>
          <a:xfrm>
            <a:off x="594359" y="603504"/>
            <a:ext cx="10972801" cy="512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400" b="1">
                <a:solidFill>
                  <a:srgbClr val="1B1C1E"/>
                </a:solidFill>
              </a:defRPr>
            </a:lvl1pPr>
          </a:lstStyle>
          <a:p>
            <a:r>
              <a:t>Vue technique de l’algorithme</a:t>
            </a:r>
          </a:p>
        </p:txBody>
      </p:sp>
      <p:sp>
        <p:nvSpPr>
          <p:cNvPr id="63" name="Shape 3"/>
          <p:cNvSpPr/>
          <p:nvPr/>
        </p:nvSpPr>
        <p:spPr>
          <a:xfrm>
            <a:off x="502919" y="6345935"/>
            <a:ext cx="11201402" cy="1"/>
          </a:xfrm>
          <a:prstGeom prst="line">
            <a:avLst/>
          </a:prstGeom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4" name="Text 4"/>
          <p:cNvSpPr txBox="1"/>
          <p:nvPr/>
        </p:nvSpPr>
        <p:spPr>
          <a:xfrm>
            <a:off x="502919" y="6474460"/>
            <a:ext cx="4937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67625B"/>
                </a:solidFill>
              </a:defRPr>
            </a:lvl1pPr>
          </a:lstStyle>
          <a:p>
            <a:r>
              <a:t>GraphBench - Présentation algorithme</a:t>
            </a:r>
          </a:p>
        </p:txBody>
      </p:sp>
      <p:sp>
        <p:nvSpPr>
          <p:cNvPr id="65" name="Text 5"/>
          <p:cNvSpPr txBox="1"/>
          <p:nvPr/>
        </p:nvSpPr>
        <p:spPr>
          <a:xfrm>
            <a:off x="749807" y="1234439"/>
            <a:ext cx="10698482" cy="475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 defTabSz="841247">
              <a:lnSpc>
                <a:spcPct val="80000"/>
              </a:lnSpc>
              <a:defRPr sz="1748" b="1">
                <a:solidFill>
                  <a:srgbClr val="183A3A"/>
                </a:solidFill>
              </a:defRPr>
            </a:lvl1pPr>
          </a:lstStyle>
          <a:p>
            <a:r>
              <a:t>Le moteur combine trois niveaux : générer de bons graphes de départ, explorer par mutations, puis valider strictement.</a:t>
            </a:r>
          </a:p>
        </p:txBody>
      </p:sp>
      <p:sp>
        <p:nvSpPr>
          <p:cNvPr id="66" name="Shape 6"/>
          <p:cNvSpPr/>
          <p:nvPr/>
        </p:nvSpPr>
        <p:spPr>
          <a:xfrm>
            <a:off x="566927" y="2240279"/>
            <a:ext cx="1416015" cy="530353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7" name="Text 7"/>
          <p:cNvSpPr txBox="1"/>
          <p:nvPr/>
        </p:nvSpPr>
        <p:spPr>
          <a:xfrm>
            <a:off x="621791" y="2368295"/>
            <a:ext cx="1306288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800" b="1">
                <a:solidFill>
                  <a:srgbClr val="3D5A80"/>
                </a:solidFill>
              </a:defRPr>
            </a:lvl1pPr>
          </a:lstStyle>
          <a:p>
            <a:r>
              <a:t>charger conjecture</a:t>
            </a:r>
          </a:p>
        </p:txBody>
      </p:sp>
      <p:sp>
        <p:nvSpPr>
          <p:cNvPr id="68" name="Shape 8"/>
          <p:cNvSpPr/>
          <p:nvPr/>
        </p:nvSpPr>
        <p:spPr>
          <a:xfrm>
            <a:off x="2001229" y="2423160"/>
            <a:ext cx="164593" cy="164593"/>
          </a:xfrm>
          <a:prstGeom prst="chevron">
            <a:avLst>
              <a:gd name="adj" fmla="val 50000"/>
            </a:avLst>
          </a:prstGeom>
          <a:solidFill>
            <a:srgbClr val="C49A45"/>
          </a:solidFill>
          <a:ln w="12700">
            <a:solidFill>
              <a:srgbClr val="C49A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9" name="Shape 9"/>
          <p:cNvSpPr/>
          <p:nvPr/>
        </p:nvSpPr>
        <p:spPr>
          <a:xfrm>
            <a:off x="2147534" y="2240279"/>
            <a:ext cx="1416014" cy="530353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0" name="Text 10"/>
          <p:cNvSpPr txBox="1"/>
          <p:nvPr/>
        </p:nvSpPr>
        <p:spPr>
          <a:xfrm>
            <a:off x="2202397" y="2368295"/>
            <a:ext cx="1306287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800" b="1">
                <a:solidFill>
                  <a:srgbClr val="B85C38"/>
                </a:solidFill>
              </a:defRPr>
            </a:lvl1pPr>
          </a:lstStyle>
          <a:p>
            <a:r>
              <a:t>choisir population</a:t>
            </a:r>
          </a:p>
        </p:txBody>
      </p:sp>
      <p:sp>
        <p:nvSpPr>
          <p:cNvPr id="71" name="Shape 11"/>
          <p:cNvSpPr/>
          <p:nvPr/>
        </p:nvSpPr>
        <p:spPr>
          <a:xfrm>
            <a:off x="3581834" y="2423160"/>
            <a:ext cx="164593" cy="164593"/>
          </a:xfrm>
          <a:prstGeom prst="chevron">
            <a:avLst>
              <a:gd name="adj" fmla="val 50000"/>
            </a:avLst>
          </a:prstGeom>
          <a:solidFill>
            <a:srgbClr val="C49A45"/>
          </a:solidFill>
          <a:ln w="12700">
            <a:solidFill>
              <a:srgbClr val="C49A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2" name="Shape 12"/>
          <p:cNvSpPr/>
          <p:nvPr/>
        </p:nvSpPr>
        <p:spPr>
          <a:xfrm>
            <a:off x="3728139" y="2240279"/>
            <a:ext cx="1416015" cy="530353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3" name="Text 13"/>
          <p:cNvSpPr txBox="1"/>
          <p:nvPr/>
        </p:nvSpPr>
        <p:spPr>
          <a:xfrm>
            <a:off x="3783002" y="2368295"/>
            <a:ext cx="1306287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800" b="1">
                <a:solidFill>
                  <a:srgbClr val="216E6B"/>
                </a:solidFill>
              </a:defRPr>
            </a:lvl1pPr>
          </a:lstStyle>
          <a:p>
            <a:r>
              <a:t>générer seeds</a:t>
            </a:r>
          </a:p>
        </p:txBody>
      </p:sp>
      <p:sp>
        <p:nvSpPr>
          <p:cNvPr id="74" name="Shape 14"/>
          <p:cNvSpPr/>
          <p:nvPr/>
        </p:nvSpPr>
        <p:spPr>
          <a:xfrm>
            <a:off x="5162441" y="2423160"/>
            <a:ext cx="164593" cy="164593"/>
          </a:xfrm>
          <a:prstGeom prst="chevron">
            <a:avLst>
              <a:gd name="adj" fmla="val 50000"/>
            </a:avLst>
          </a:prstGeom>
          <a:solidFill>
            <a:srgbClr val="C49A45"/>
          </a:solidFill>
          <a:ln w="12700">
            <a:solidFill>
              <a:srgbClr val="C49A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5" name="Shape 15"/>
          <p:cNvSpPr/>
          <p:nvPr/>
        </p:nvSpPr>
        <p:spPr>
          <a:xfrm>
            <a:off x="5308744" y="2240279"/>
            <a:ext cx="1416015" cy="530353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6" name="Text 16"/>
          <p:cNvSpPr txBox="1"/>
          <p:nvPr/>
        </p:nvSpPr>
        <p:spPr>
          <a:xfrm>
            <a:off x="5363609" y="2368295"/>
            <a:ext cx="1306287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800" b="1">
                <a:solidFill>
                  <a:srgbClr val="C49A45"/>
                </a:solidFill>
              </a:defRPr>
            </a:lvl1pPr>
          </a:lstStyle>
          <a:p>
            <a:r>
              <a:t>évaluer violation</a:t>
            </a:r>
          </a:p>
        </p:txBody>
      </p:sp>
      <p:sp>
        <p:nvSpPr>
          <p:cNvPr id="77" name="Shape 17"/>
          <p:cNvSpPr/>
          <p:nvPr/>
        </p:nvSpPr>
        <p:spPr>
          <a:xfrm>
            <a:off x="6743047" y="2423160"/>
            <a:ext cx="164593" cy="164593"/>
          </a:xfrm>
          <a:prstGeom prst="chevron">
            <a:avLst>
              <a:gd name="adj" fmla="val 50000"/>
            </a:avLst>
          </a:prstGeom>
          <a:solidFill>
            <a:srgbClr val="C49A45"/>
          </a:solidFill>
          <a:ln w="12700">
            <a:solidFill>
              <a:srgbClr val="C49A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8" name="Shape 18"/>
          <p:cNvSpPr/>
          <p:nvPr/>
        </p:nvSpPr>
        <p:spPr>
          <a:xfrm>
            <a:off x="6889350" y="2240279"/>
            <a:ext cx="1416015" cy="530353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9" name="Text 19"/>
          <p:cNvSpPr txBox="1"/>
          <p:nvPr/>
        </p:nvSpPr>
        <p:spPr>
          <a:xfrm>
            <a:off x="6944214" y="2368295"/>
            <a:ext cx="1306287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800" b="1">
                <a:solidFill>
                  <a:srgbClr val="3D5A80"/>
                </a:solidFill>
              </a:defRPr>
            </a:lvl1pPr>
          </a:lstStyle>
          <a:p>
            <a:r>
              <a:t>sélectionner parent</a:t>
            </a:r>
          </a:p>
        </p:txBody>
      </p:sp>
      <p:sp>
        <p:nvSpPr>
          <p:cNvPr id="80" name="Shape 20"/>
          <p:cNvSpPr/>
          <p:nvPr/>
        </p:nvSpPr>
        <p:spPr>
          <a:xfrm>
            <a:off x="8323653" y="2423160"/>
            <a:ext cx="164593" cy="164593"/>
          </a:xfrm>
          <a:prstGeom prst="chevron">
            <a:avLst>
              <a:gd name="adj" fmla="val 50000"/>
            </a:avLst>
          </a:prstGeom>
          <a:solidFill>
            <a:srgbClr val="C49A45"/>
          </a:solidFill>
          <a:ln w="12700">
            <a:solidFill>
              <a:srgbClr val="C49A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1" name="Shape 21"/>
          <p:cNvSpPr/>
          <p:nvPr/>
        </p:nvSpPr>
        <p:spPr>
          <a:xfrm>
            <a:off x="8469956" y="2240279"/>
            <a:ext cx="1416015" cy="530353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2" name="Text 22"/>
          <p:cNvSpPr txBox="1"/>
          <p:nvPr/>
        </p:nvSpPr>
        <p:spPr>
          <a:xfrm>
            <a:off x="8524820" y="2368295"/>
            <a:ext cx="1306287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800" b="1">
                <a:solidFill>
                  <a:srgbClr val="6B8E4E"/>
                </a:solidFill>
              </a:defRPr>
            </a:lvl1pPr>
          </a:lstStyle>
          <a:p>
            <a:r>
              <a:t>muter / réparer</a:t>
            </a:r>
          </a:p>
        </p:txBody>
      </p:sp>
      <p:sp>
        <p:nvSpPr>
          <p:cNvPr id="83" name="Shape 23"/>
          <p:cNvSpPr/>
          <p:nvPr/>
        </p:nvSpPr>
        <p:spPr>
          <a:xfrm>
            <a:off x="9904258" y="2423160"/>
            <a:ext cx="164593" cy="164593"/>
          </a:xfrm>
          <a:prstGeom prst="chevron">
            <a:avLst>
              <a:gd name="adj" fmla="val 50000"/>
            </a:avLst>
          </a:prstGeom>
          <a:solidFill>
            <a:srgbClr val="C49A45"/>
          </a:solidFill>
          <a:ln w="12700">
            <a:solidFill>
              <a:srgbClr val="C49A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4" name="Shape 24"/>
          <p:cNvSpPr/>
          <p:nvPr/>
        </p:nvSpPr>
        <p:spPr>
          <a:xfrm>
            <a:off x="10050561" y="2240279"/>
            <a:ext cx="1416015" cy="530353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5" name="Text 25"/>
          <p:cNvSpPr txBox="1"/>
          <p:nvPr/>
        </p:nvSpPr>
        <p:spPr>
          <a:xfrm>
            <a:off x="10105425" y="2368295"/>
            <a:ext cx="1306287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800" b="1">
                <a:solidFill>
                  <a:srgbClr val="B85C38"/>
                </a:solidFill>
              </a:defRPr>
            </a:lvl1pPr>
          </a:lstStyle>
          <a:p>
            <a:r>
              <a:t>valider</a:t>
            </a:r>
          </a:p>
        </p:txBody>
      </p:sp>
      <p:sp>
        <p:nvSpPr>
          <p:cNvPr id="86" name="Shape 26"/>
          <p:cNvSpPr/>
          <p:nvPr/>
        </p:nvSpPr>
        <p:spPr>
          <a:xfrm>
            <a:off x="1325880" y="3886200"/>
            <a:ext cx="2148840" cy="950976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7" name="Text 27"/>
          <p:cNvSpPr txBox="1"/>
          <p:nvPr/>
        </p:nvSpPr>
        <p:spPr>
          <a:xfrm>
            <a:off x="1417319" y="4014215"/>
            <a:ext cx="1965961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2100" b="1">
                <a:solidFill>
                  <a:srgbClr val="216E6B"/>
                </a:solidFill>
              </a:defRPr>
            </a:lvl1pPr>
          </a:lstStyle>
          <a:p>
            <a:r>
              <a:t>100/100</a:t>
            </a:r>
          </a:p>
        </p:txBody>
      </p:sp>
      <p:sp>
        <p:nvSpPr>
          <p:cNvPr id="88" name="Text 28"/>
          <p:cNvSpPr txBox="1"/>
          <p:nvPr/>
        </p:nvSpPr>
        <p:spPr>
          <a:xfrm>
            <a:off x="1417319" y="4471415"/>
            <a:ext cx="19659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900" b="1">
                <a:solidFill>
                  <a:srgbClr val="67625B"/>
                </a:solidFill>
              </a:defRPr>
            </a:lvl1pPr>
          </a:lstStyle>
          <a:p>
            <a:r>
              <a:t>contre-exemples validés</a:t>
            </a:r>
          </a:p>
        </p:txBody>
      </p:sp>
      <p:sp>
        <p:nvSpPr>
          <p:cNvPr id="89" name="Shape 29"/>
          <p:cNvSpPr/>
          <p:nvPr/>
        </p:nvSpPr>
        <p:spPr>
          <a:xfrm>
            <a:off x="3703320" y="3886200"/>
            <a:ext cx="2148841" cy="950976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0" name="Text 30"/>
          <p:cNvSpPr txBox="1"/>
          <p:nvPr/>
        </p:nvSpPr>
        <p:spPr>
          <a:xfrm>
            <a:off x="3794759" y="4014215"/>
            <a:ext cx="1965961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2100" b="1">
                <a:solidFill>
                  <a:srgbClr val="B85C38"/>
                </a:solidFill>
              </a:defRPr>
            </a:lvl1pPr>
          </a:lstStyle>
          <a:p>
            <a:r>
              <a:t>25.28 s</a:t>
            </a:r>
          </a:p>
        </p:txBody>
      </p:sp>
      <p:sp>
        <p:nvSpPr>
          <p:cNvPr id="91" name="Text 31"/>
          <p:cNvSpPr txBox="1"/>
          <p:nvPr/>
        </p:nvSpPr>
        <p:spPr>
          <a:xfrm>
            <a:off x="3794759" y="4471415"/>
            <a:ext cx="19659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900" b="1">
                <a:solidFill>
                  <a:srgbClr val="67625B"/>
                </a:solidFill>
              </a:defRPr>
            </a:lvl1pPr>
          </a:lstStyle>
          <a:p>
            <a:r>
              <a:t>score final actuel</a:t>
            </a:r>
          </a:p>
        </p:txBody>
      </p:sp>
      <p:sp>
        <p:nvSpPr>
          <p:cNvPr id="92" name="Shape 32"/>
          <p:cNvSpPr/>
          <p:nvPr/>
        </p:nvSpPr>
        <p:spPr>
          <a:xfrm>
            <a:off x="6080759" y="3886200"/>
            <a:ext cx="2148841" cy="950976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3" name="Text 33"/>
          <p:cNvSpPr txBox="1"/>
          <p:nvPr/>
        </p:nvSpPr>
        <p:spPr>
          <a:xfrm>
            <a:off x="6172199" y="4014215"/>
            <a:ext cx="1965962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2100" b="1">
                <a:solidFill>
                  <a:srgbClr val="3D5A80"/>
                </a:solidFill>
              </a:defRPr>
            </a:lvl1pPr>
          </a:lstStyle>
          <a:p>
            <a:r>
              <a:t>136.80 s</a:t>
            </a:r>
          </a:p>
        </p:txBody>
      </p:sp>
      <p:sp>
        <p:nvSpPr>
          <p:cNvPr id="94" name="Text 34"/>
          <p:cNvSpPr txBox="1"/>
          <p:nvPr/>
        </p:nvSpPr>
        <p:spPr>
          <a:xfrm>
            <a:off x="6172199" y="4471415"/>
            <a:ext cx="196596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900" b="1">
                <a:solidFill>
                  <a:srgbClr val="67625B"/>
                </a:solidFill>
              </a:defRPr>
            </a:lvl1pPr>
          </a:lstStyle>
          <a:p>
            <a:r>
              <a:t>ancienne v4</a:t>
            </a:r>
          </a:p>
        </p:txBody>
      </p:sp>
      <p:sp>
        <p:nvSpPr>
          <p:cNvPr id="95" name="Shape 35"/>
          <p:cNvSpPr/>
          <p:nvPr/>
        </p:nvSpPr>
        <p:spPr>
          <a:xfrm>
            <a:off x="8458200" y="3886200"/>
            <a:ext cx="2148840" cy="950976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6" name="Text 36"/>
          <p:cNvSpPr txBox="1"/>
          <p:nvPr/>
        </p:nvSpPr>
        <p:spPr>
          <a:xfrm>
            <a:off x="8549640" y="4014215"/>
            <a:ext cx="1965961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2100" b="1">
                <a:solidFill>
                  <a:srgbClr val="6B8E4E"/>
                </a:solidFill>
              </a:defRPr>
            </a:lvl1pPr>
          </a:lstStyle>
          <a:p>
            <a:r>
              <a:t>stricte</a:t>
            </a:r>
          </a:p>
        </p:txBody>
      </p:sp>
      <p:sp>
        <p:nvSpPr>
          <p:cNvPr id="97" name="Text 37"/>
          <p:cNvSpPr txBox="1"/>
          <p:nvPr/>
        </p:nvSpPr>
        <p:spPr>
          <a:xfrm>
            <a:off x="8549640" y="4471415"/>
            <a:ext cx="19659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900" b="1">
                <a:solidFill>
                  <a:srgbClr val="67625B"/>
                </a:solidFill>
              </a:defRPr>
            </a:lvl1pPr>
          </a:lstStyle>
          <a:p>
            <a:r>
              <a:t>validation</a:t>
            </a:r>
          </a:p>
        </p:txBody>
      </p:sp>
      <p:sp>
        <p:nvSpPr>
          <p:cNvPr id="98" name="Text 38"/>
          <p:cNvSpPr txBox="1"/>
          <p:nvPr/>
        </p:nvSpPr>
        <p:spPr>
          <a:xfrm>
            <a:off x="914399" y="5349240"/>
            <a:ext cx="1024128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1600" b="1">
                <a:solidFill>
                  <a:srgbClr val="1B1C1E"/>
                </a:solidFill>
              </a:defRPr>
            </a:lvl1pPr>
          </a:lstStyle>
          <a:p>
            <a:r>
              <a:t>Le score guide la recherche, mais seul le recalcul exact valide un contre-exemple.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0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16E6B"/>
          </a:solidFill>
          <a:ln w="12700">
            <a:solidFill>
              <a:srgbClr val="216E6B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1" name="Text 1"/>
          <p:cNvSpPr txBox="1"/>
          <p:nvPr/>
        </p:nvSpPr>
        <p:spPr>
          <a:xfrm>
            <a:off x="594360" y="366267"/>
            <a:ext cx="56692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216E6B"/>
                </a:solidFill>
              </a:defRPr>
            </a:lvl1pPr>
          </a:lstStyle>
          <a:p>
            <a:r>
              <a:t>ARCHITECTURE</a:t>
            </a:r>
          </a:p>
        </p:txBody>
      </p:sp>
      <p:sp>
        <p:nvSpPr>
          <p:cNvPr id="102" name="Text 2"/>
          <p:cNvSpPr txBox="1"/>
          <p:nvPr/>
        </p:nvSpPr>
        <p:spPr>
          <a:xfrm>
            <a:off x="594359" y="603504"/>
            <a:ext cx="10972801" cy="512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400" b="1">
                <a:solidFill>
                  <a:srgbClr val="1B1C1E"/>
                </a:solidFill>
              </a:defRPr>
            </a:lvl1pPr>
          </a:lstStyle>
          <a:p>
            <a:r>
              <a:t>Les fonctions principales et leur rôle</a:t>
            </a:r>
          </a:p>
        </p:txBody>
      </p:sp>
      <p:sp>
        <p:nvSpPr>
          <p:cNvPr id="103" name="Shape 3"/>
          <p:cNvSpPr/>
          <p:nvPr/>
        </p:nvSpPr>
        <p:spPr>
          <a:xfrm>
            <a:off x="502919" y="6345935"/>
            <a:ext cx="11201402" cy="1"/>
          </a:xfrm>
          <a:prstGeom prst="line">
            <a:avLst/>
          </a:prstGeom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4" name="Text 4"/>
          <p:cNvSpPr txBox="1"/>
          <p:nvPr/>
        </p:nvSpPr>
        <p:spPr>
          <a:xfrm>
            <a:off x="502919" y="6474460"/>
            <a:ext cx="4937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67625B"/>
                </a:solidFill>
              </a:defRPr>
            </a:lvl1pPr>
          </a:lstStyle>
          <a:p>
            <a:r>
              <a:t>GraphBench - Présentation algorithme</a:t>
            </a:r>
          </a:p>
        </p:txBody>
      </p:sp>
      <p:sp>
        <p:nvSpPr>
          <p:cNvPr id="105" name="Shape 5"/>
          <p:cNvSpPr/>
          <p:nvPr/>
        </p:nvSpPr>
        <p:spPr>
          <a:xfrm>
            <a:off x="685800" y="1280160"/>
            <a:ext cx="3566160" cy="1170433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6" name="Shape 6"/>
          <p:cNvSpPr/>
          <p:nvPr/>
        </p:nvSpPr>
        <p:spPr>
          <a:xfrm>
            <a:off x="685799" y="1280160"/>
            <a:ext cx="73154" cy="1170433"/>
          </a:xfrm>
          <a:prstGeom prst="rect">
            <a:avLst/>
          </a:prstGeom>
          <a:solidFill>
            <a:srgbClr val="216E6B"/>
          </a:solidFill>
          <a:ln w="12700">
            <a:solidFill>
              <a:srgbClr val="216E6B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7" name="Text 7"/>
          <p:cNvSpPr txBox="1"/>
          <p:nvPr/>
        </p:nvSpPr>
        <p:spPr>
          <a:xfrm>
            <a:off x="886967" y="1408175"/>
            <a:ext cx="323697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200" b="1">
                <a:solidFill>
                  <a:srgbClr val="1B1C1E"/>
                </a:solidFill>
              </a:defRPr>
            </a:lvl1pPr>
          </a:lstStyle>
          <a:p>
            <a:r>
              <a:t>generate_initial_population</a:t>
            </a:r>
          </a:p>
        </p:txBody>
      </p:sp>
      <p:sp>
        <p:nvSpPr>
          <p:cNvPr id="108" name="Text 8"/>
          <p:cNvSpPr txBox="1"/>
          <p:nvPr/>
        </p:nvSpPr>
        <p:spPr>
          <a:xfrm>
            <a:off x="886967" y="1737360"/>
            <a:ext cx="3218689" cy="603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7625B"/>
                </a:solidFill>
              </a:defRPr>
            </a:lvl1pPr>
          </a:lstStyle>
          <a:p>
            <a:r>
              <a:t>Construit la première population : d’abord les familles ciblées, puis du hasard pour compléter.</a:t>
            </a:r>
          </a:p>
        </p:txBody>
      </p:sp>
      <p:sp>
        <p:nvSpPr>
          <p:cNvPr id="109" name="Shape 9"/>
          <p:cNvSpPr/>
          <p:nvPr/>
        </p:nvSpPr>
        <p:spPr>
          <a:xfrm>
            <a:off x="4526279" y="1280160"/>
            <a:ext cx="3566161" cy="1170433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0" name="Shape 10"/>
          <p:cNvSpPr/>
          <p:nvPr/>
        </p:nvSpPr>
        <p:spPr>
          <a:xfrm>
            <a:off x="4526279" y="1280160"/>
            <a:ext cx="73153" cy="1170433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" name="Text 11"/>
          <p:cNvSpPr txBox="1"/>
          <p:nvPr/>
        </p:nvSpPr>
        <p:spPr>
          <a:xfrm>
            <a:off x="4727447" y="1408175"/>
            <a:ext cx="323697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200" b="1">
                <a:solidFill>
                  <a:srgbClr val="1B1C1E"/>
                </a:solidFill>
              </a:defRPr>
            </a:lvl1pPr>
          </a:lstStyle>
          <a:p>
            <a:r>
              <a:t>search_counterexample</a:t>
            </a:r>
          </a:p>
        </p:txBody>
      </p:sp>
      <p:sp>
        <p:nvSpPr>
          <p:cNvPr id="112" name="Text 12"/>
          <p:cNvSpPr txBox="1"/>
          <p:nvPr/>
        </p:nvSpPr>
        <p:spPr>
          <a:xfrm>
            <a:off x="4727447" y="1737360"/>
            <a:ext cx="3218689" cy="603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7625B"/>
                </a:solidFill>
              </a:defRPr>
            </a:lvl1pPr>
          </a:lstStyle>
          <a:p>
            <a:r>
              <a:t>Boucle principale : évalue, sélectionne, mute, répare, garde les meilleurs candidats.</a:t>
            </a:r>
          </a:p>
        </p:txBody>
      </p:sp>
      <p:sp>
        <p:nvSpPr>
          <p:cNvPr id="113" name="Shape 13"/>
          <p:cNvSpPr/>
          <p:nvPr/>
        </p:nvSpPr>
        <p:spPr>
          <a:xfrm>
            <a:off x="8366759" y="1280160"/>
            <a:ext cx="3154681" cy="1170433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4" name="Shape 14"/>
          <p:cNvSpPr/>
          <p:nvPr/>
        </p:nvSpPr>
        <p:spPr>
          <a:xfrm>
            <a:off x="8366759" y="1280160"/>
            <a:ext cx="73153" cy="1170433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5" name="Text 15"/>
          <p:cNvSpPr txBox="1"/>
          <p:nvPr/>
        </p:nvSpPr>
        <p:spPr>
          <a:xfrm>
            <a:off x="8567928" y="1408175"/>
            <a:ext cx="282549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200" b="1">
                <a:solidFill>
                  <a:srgbClr val="1B1C1E"/>
                </a:solidFill>
              </a:defRPr>
            </a:lvl1pPr>
          </a:lstStyle>
          <a:p>
            <a:r>
              <a:t>mutate</a:t>
            </a:r>
          </a:p>
        </p:txBody>
      </p:sp>
      <p:sp>
        <p:nvSpPr>
          <p:cNvPr id="116" name="Text 16"/>
          <p:cNvSpPr txBox="1"/>
          <p:nvPr/>
        </p:nvSpPr>
        <p:spPr>
          <a:xfrm>
            <a:off x="8567928" y="1737360"/>
            <a:ext cx="2807209" cy="603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7625B"/>
                </a:solidFill>
              </a:defRPr>
            </a:lvl1pPr>
          </a:lstStyle>
          <a:p>
            <a:r>
              <a:t>Produit une variante locale du parent selon la classe du graphe.</a:t>
            </a:r>
          </a:p>
        </p:txBody>
      </p:sp>
      <p:sp>
        <p:nvSpPr>
          <p:cNvPr id="117" name="Shape 17"/>
          <p:cNvSpPr/>
          <p:nvPr/>
        </p:nvSpPr>
        <p:spPr>
          <a:xfrm>
            <a:off x="685800" y="2880360"/>
            <a:ext cx="3566160" cy="1170433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" name="Shape 18"/>
          <p:cNvSpPr/>
          <p:nvPr/>
        </p:nvSpPr>
        <p:spPr>
          <a:xfrm>
            <a:off x="685799" y="2880360"/>
            <a:ext cx="73154" cy="1170433"/>
          </a:xfrm>
          <a:prstGeom prst="rect">
            <a:avLst/>
          </a:prstGeom>
          <a:solidFill>
            <a:srgbClr val="6B8E4E"/>
          </a:solidFill>
          <a:ln w="12700">
            <a:solidFill>
              <a:srgbClr val="6B8E4E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9" name="Text 19"/>
          <p:cNvSpPr txBox="1"/>
          <p:nvPr/>
        </p:nvSpPr>
        <p:spPr>
          <a:xfrm>
            <a:off x="886967" y="3008376"/>
            <a:ext cx="323697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200" b="1">
                <a:solidFill>
                  <a:srgbClr val="1B1C1E"/>
                </a:solidFill>
              </a:defRPr>
            </a:lvl1pPr>
          </a:lstStyle>
          <a:p>
            <a:r>
              <a:t>repair</a:t>
            </a:r>
          </a:p>
        </p:txBody>
      </p:sp>
      <p:sp>
        <p:nvSpPr>
          <p:cNvPr id="120" name="Text 20"/>
          <p:cNvSpPr txBox="1"/>
          <p:nvPr/>
        </p:nvSpPr>
        <p:spPr>
          <a:xfrm>
            <a:off x="886967" y="3337559"/>
            <a:ext cx="3218689" cy="603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7625B"/>
                </a:solidFill>
              </a:defRPr>
            </a:lvl1pPr>
          </a:lstStyle>
          <a:p>
            <a:r>
              <a:t>Corrige un graphe après génération ou mutation pour retrouver les contraintes de classe.</a:t>
            </a:r>
          </a:p>
        </p:txBody>
      </p:sp>
      <p:sp>
        <p:nvSpPr>
          <p:cNvPr id="121" name="Shape 21"/>
          <p:cNvSpPr/>
          <p:nvPr/>
        </p:nvSpPr>
        <p:spPr>
          <a:xfrm>
            <a:off x="4526279" y="2880360"/>
            <a:ext cx="3566161" cy="1170433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2" name="Shape 22"/>
          <p:cNvSpPr/>
          <p:nvPr/>
        </p:nvSpPr>
        <p:spPr>
          <a:xfrm>
            <a:off x="4526279" y="2880360"/>
            <a:ext cx="73153" cy="1170433"/>
          </a:xfrm>
          <a:prstGeom prst="rect">
            <a:avLst/>
          </a:prstGeom>
          <a:solidFill>
            <a:srgbClr val="C49A45"/>
          </a:solidFill>
          <a:ln w="12700">
            <a:solidFill>
              <a:srgbClr val="C49A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3" name="Text 23"/>
          <p:cNvSpPr txBox="1"/>
          <p:nvPr/>
        </p:nvSpPr>
        <p:spPr>
          <a:xfrm>
            <a:off x="4727447" y="3008376"/>
            <a:ext cx="323697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200" b="1">
                <a:solidFill>
                  <a:srgbClr val="1B1C1E"/>
                </a:solidFill>
              </a:defRPr>
            </a:lvl1pPr>
          </a:lstStyle>
          <a:p>
            <a:r>
              <a:t>compute_cached</a:t>
            </a:r>
          </a:p>
        </p:txBody>
      </p:sp>
      <p:sp>
        <p:nvSpPr>
          <p:cNvPr id="124" name="Text 24"/>
          <p:cNvSpPr txBox="1"/>
          <p:nvPr/>
        </p:nvSpPr>
        <p:spPr>
          <a:xfrm>
            <a:off x="4727447" y="3337559"/>
            <a:ext cx="3218689" cy="603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7625B"/>
                </a:solidFill>
              </a:defRPr>
            </a:lvl1pPr>
          </a:lstStyle>
          <a:p>
            <a:r>
              <a:t>Calcule uniquement les invariants nécessaires à la conjecture courante.</a:t>
            </a:r>
          </a:p>
        </p:txBody>
      </p:sp>
      <p:sp>
        <p:nvSpPr>
          <p:cNvPr id="125" name="Shape 25"/>
          <p:cNvSpPr/>
          <p:nvPr/>
        </p:nvSpPr>
        <p:spPr>
          <a:xfrm>
            <a:off x="8366759" y="2880360"/>
            <a:ext cx="3154681" cy="1170433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6" name="Shape 26"/>
          <p:cNvSpPr/>
          <p:nvPr/>
        </p:nvSpPr>
        <p:spPr>
          <a:xfrm>
            <a:off x="8366759" y="2880360"/>
            <a:ext cx="73153" cy="1170433"/>
          </a:xfrm>
          <a:prstGeom prst="rect">
            <a:avLst/>
          </a:prstGeom>
          <a:solidFill>
            <a:srgbClr val="216E6B"/>
          </a:solidFill>
          <a:ln w="12700">
            <a:solidFill>
              <a:srgbClr val="216E6B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7" name="Text 27"/>
          <p:cNvSpPr txBox="1"/>
          <p:nvPr/>
        </p:nvSpPr>
        <p:spPr>
          <a:xfrm>
            <a:off x="8567928" y="3008376"/>
            <a:ext cx="282549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200" b="1">
                <a:solidFill>
                  <a:srgbClr val="1B1C1E"/>
                </a:solidFill>
              </a:defRPr>
            </a:lvl1pPr>
          </a:lstStyle>
          <a:p>
            <a:r>
              <a:t>verify_results</a:t>
            </a:r>
          </a:p>
        </p:txBody>
      </p:sp>
      <p:sp>
        <p:nvSpPr>
          <p:cNvPr id="128" name="Text 28"/>
          <p:cNvSpPr txBox="1"/>
          <p:nvPr/>
        </p:nvSpPr>
        <p:spPr>
          <a:xfrm>
            <a:off x="8567928" y="3337559"/>
            <a:ext cx="2807209" cy="603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7625B"/>
                </a:solidFill>
              </a:defRPr>
            </a:lvl1pPr>
          </a:lstStyle>
          <a:p>
            <a:r>
              <a:t>Recalcule et vérifie les graphes produits dans le CSV final.</a:t>
            </a:r>
          </a:p>
        </p:txBody>
      </p:sp>
      <p:sp>
        <p:nvSpPr>
          <p:cNvPr id="129" name="Text 29"/>
          <p:cNvSpPr txBox="1"/>
          <p:nvPr/>
        </p:nvSpPr>
        <p:spPr>
          <a:xfrm>
            <a:off x="914399" y="5166359"/>
            <a:ext cx="10332722" cy="41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1500" b="1">
                <a:solidFill>
                  <a:srgbClr val="183A3A"/>
                </a:solidFill>
              </a:defRPr>
            </a:lvl1pPr>
          </a:lstStyle>
          <a:p>
            <a:r>
              <a:t>Les fonctions ne sont pas indépendantes ; elles forment une chaîne génération → exploration → validation.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0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16E6B"/>
          </a:solidFill>
          <a:ln w="12700">
            <a:solidFill>
              <a:srgbClr val="216E6B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2" name="Text 1"/>
          <p:cNvSpPr txBox="1"/>
          <p:nvPr/>
        </p:nvSpPr>
        <p:spPr>
          <a:xfrm>
            <a:off x="594360" y="366267"/>
            <a:ext cx="56692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216E6B"/>
                </a:solidFill>
              </a:defRPr>
            </a:lvl1pPr>
          </a:lstStyle>
          <a:p>
            <a:r>
              <a:t>BOUCLE DE RECHERCHE</a:t>
            </a:r>
          </a:p>
        </p:txBody>
      </p:sp>
      <p:sp>
        <p:nvSpPr>
          <p:cNvPr id="133" name="Text 2"/>
          <p:cNvSpPr txBox="1"/>
          <p:nvPr/>
        </p:nvSpPr>
        <p:spPr>
          <a:xfrm>
            <a:off x="594359" y="603504"/>
            <a:ext cx="10972801" cy="512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400" b="1">
                <a:solidFill>
                  <a:srgbClr val="1B1C1E"/>
                </a:solidFill>
              </a:defRPr>
            </a:lvl1pPr>
          </a:lstStyle>
          <a:p>
            <a:r>
              <a:t>Ce qu’une itération fait réellement</a:t>
            </a:r>
          </a:p>
        </p:txBody>
      </p:sp>
      <p:sp>
        <p:nvSpPr>
          <p:cNvPr id="134" name="Shape 3"/>
          <p:cNvSpPr/>
          <p:nvPr/>
        </p:nvSpPr>
        <p:spPr>
          <a:xfrm>
            <a:off x="502919" y="6345935"/>
            <a:ext cx="11201402" cy="1"/>
          </a:xfrm>
          <a:prstGeom prst="line">
            <a:avLst/>
          </a:prstGeom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5" name="Text 4"/>
          <p:cNvSpPr txBox="1"/>
          <p:nvPr/>
        </p:nvSpPr>
        <p:spPr>
          <a:xfrm>
            <a:off x="502919" y="6474460"/>
            <a:ext cx="4937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67625B"/>
                </a:solidFill>
              </a:defRPr>
            </a:lvl1pPr>
          </a:lstStyle>
          <a:p>
            <a:r>
              <a:t>GraphBench - Présentation algorithme</a:t>
            </a:r>
          </a:p>
        </p:txBody>
      </p:sp>
      <p:sp>
        <p:nvSpPr>
          <p:cNvPr id="136" name="Shape 5"/>
          <p:cNvSpPr/>
          <p:nvPr/>
        </p:nvSpPr>
        <p:spPr>
          <a:xfrm>
            <a:off x="566927" y="1417319"/>
            <a:ext cx="1679450" cy="530353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7" name="Text 6"/>
          <p:cNvSpPr txBox="1"/>
          <p:nvPr/>
        </p:nvSpPr>
        <p:spPr>
          <a:xfrm>
            <a:off x="621791" y="1545336"/>
            <a:ext cx="156972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900" b="1">
                <a:solidFill>
                  <a:srgbClr val="3D5A80"/>
                </a:solidFill>
              </a:defRPr>
            </a:lvl1pPr>
          </a:lstStyle>
          <a:p>
            <a:r>
              <a:t>1. choisir parent</a:t>
            </a:r>
          </a:p>
        </p:txBody>
      </p:sp>
      <p:sp>
        <p:nvSpPr>
          <p:cNvPr id="138" name="Shape 7"/>
          <p:cNvSpPr/>
          <p:nvPr/>
        </p:nvSpPr>
        <p:spPr>
          <a:xfrm>
            <a:off x="2264664" y="1600200"/>
            <a:ext cx="164593" cy="164593"/>
          </a:xfrm>
          <a:prstGeom prst="chevron">
            <a:avLst>
              <a:gd name="adj" fmla="val 50000"/>
            </a:avLst>
          </a:prstGeom>
          <a:solidFill>
            <a:srgbClr val="C49A45"/>
          </a:solidFill>
          <a:ln w="12700">
            <a:solidFill>
              <a:srgbClr val="C49A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9" name="Shape 8"/>
          <p:cNvSpPr/>
          <p:nvPr/>
        </p:nvSpPr>
        <p:spPr>
          <a:xfrm>
            <a:off x="2410967" y="1417319"/>
            <a:ext cx="1679450" cy="530353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0" name="Text 9"/>
          <p:cNvSpPr txBox="1"/>
          <p:nvPr/>
        </p:nvSpPr>
        <p:spPr>
          <a:xfrm>
            <a:off x="2465832" y="1545336"/>
            <a:ext cx="156972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900" b="1">
                <a:solidFill>
                  <a:srgbClr val="B85C38"/>
                </a:solidFill>
              </a:defRPr>
            </a:lvl1pPr>
          </a:lstStyle>
          <a:p>
            <a:r>
              <a:t>2. mutation ou graphe frais</a:t>
            </a:r>
          </a:p>
        </p:txBody>
      </p:sp>
      <p:sp>
        <p:nvSpPr>
          <p:cNvPr id="141" name="Shape 10"/>
          <p:cNvSpPr/>
          <p:nvPr/>
        </p:nvSpPr>
        <p:spPr>
          <a:xfrm>
            <a:off x="4108703" y="1600200"/>
            <a:ext cx="164593" cy="164593"/>
          </a:xfrm>
          <a:prstGeom prst="chevron">
            <a:avLst>
              <a:gd name="adj" fmla="val 50000"/>
            </a:avLst>
          </a:prstGeom>
          <a:solidFill>
            <a:srgbClr val="C49A45"/>
          </a:solidFill>
          <a:ln w="12700">
            <a:solidFill>
              <a:srgbClr val="C49A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2" name="Shape 11"/>
          <p:cNvSpPr/>
          <p:nvPr/>
        </p:nvSpPr>
        <p:spPr>
          <a:xfrm>
            <a:off x="4255008" y="1417319"/>
            <a:ext cx="1679449" cy="530353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3" name="Text 12"/>
          <p:cNvSpPr txBox="1"/>
          <p:nvPr/>
        </p:nvSpPr>
        <p:spPr>
          <a:xfrm>
            <a:off x="4309871" y="1545336"/>
            <a:ext cx="156972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900" b="1">
                <a:solidFill>
                  <a:srgbClr val="6B8E4E"/>
                </a:solidFill>
              </a:defRPr>
            </a:lvl1pPr>
          </a:lstStyle>
          <a:p>
            <a:r>
              <a:t>3. réparer</a:t>
            </a:r>
          </a:p>
        </p:txBody>
      </p:sp>
      <p:sp>
        <p:nvSpPr>
          <p:cNvPr id="144" name="Shape 13"/>
          <p:cNvSpPr/>
          <p:nvPr/>
        </p:nvSpPr>
        <p:spPr>
          <a:xfrm>
            <a:off x="5952744" y="1600200"/>
            <a:ext cx="164593" cy="164593"/>
          </a:xfrm>
          <a:prstGeom prst="chevron">
            <a:avLst>
              <a:gd name="adj" fmla="val 50000"/>
            </a:avLst>
          </a:prstGeom>
          <a:solidFill>
            <a:srgbClr val="C49A45"/>
          </a:solidFill>
          <a:ln w="12700">
            <a:solidFill>
              <a:srgbClr val="C49A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5" name="Shape 14"/>
          <p:cNvSpPr/>
          <p:nvPr/>
        </p:nvSpPr>
        <p:spPr>
          <a:xfrm>
            <a:off x="6099047" y="1417319"/>
            <a:ext cx="1679449" cy="530353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6" name="Text 15"/>
          <p:cNvSpPr txBox="1"/>
          <p:nvPr/>
        </p:nvSpPr>
        <p:spPr>
          <a:xfrm>
            <a:off x="6153911" y="1545336"/>
            <a:ext cx="156972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900" b="1">
                <a:solidFill>
                  <a:srgbClr val="C49A45"/>
                </a:solidFill>
              </a:defRPr>
            </a:lvl1pPr>
          </a:lstStyle>
          <a:p>
            <a:r>
              <a:t>4. calculer invariants</a:t>
            </a:r>
          </a:p>
        </p:txBody>
      </p:sp>
      <p:sp>
        <p:nvSpPr>
          <p:cNvPr id="147" name="Shape 16"/>
          <p:cNvSpPr/>
          <p:nvPr/>
        </p:nvSpPr>
        <p:spPr>
          <a:xfrm>
            <a:off x="7796783" y="1600200"/>
            <a:ext cx="164593" cy="164593"/>
          </a:xfrm>
          <a:prstGeom prst="chevron">
            <a:avLst>
              <a:gd name="adj" fmla="val 50000"/>
            </a:avLst>
          </a:prstGeom>
          <a:solidFill>
            <a:srgbClr val="C49A45"/>
          </a:solidFill>
          <a:ln w="12700">
            <a:solidFill>
              <a:srgbClr val="C49A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8" name="Shape 17"/>
          <p:cNvSpPr/>
          <p:nvPr/>
        </p:nvSpPr>
        <p:spPr>
          <a:xfrm>
            <a:off x="7943088" y="1417319"/>
            <a:ext cx="1679449" cy="530353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9" name="Text 18"/>
          <p:cNvSpPr txBox="1"/>
          <p:nvPr/>
        </p:nvSpPr>
        <p:spPr>
          <a:xfrm>
            <a:off x="7997952" y="1545336"/>
            <a:ext cx="156972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900" b="1">
                <a:solidFill>
                  <a:srgbClr val="216E6B"/>
                </a:solidFill>
              </a:defRPr>
            </a:lvl1pPr>
          </a:lstStyle>
          <a:p>
            <a:r>
              <a:t>5. scorer</a:t>
            </a:r>
          </a:p>
        </p:txBody>
      </p:sp>
      <p:sp>
        <p:nvSpPr>
          <p:cNvPr id="150" name="Shape 19"/>
          <p:cNvSpPr/>
          <p:nvPr/>
        </p:nvSpPr>
        <p:spPr>
          <a:xfrm>
            <a:off x="9640823" y="1600200"/>
            <a:ext cx="164593" cy="164593"/>
          </a:xfrm>
          <a:prstGeom prst="chevron">
            <a:avLst>
              <a:gd name="adj" fmla="val 50000"/>
            </a:avLst>
          </a:prstGeom>
          <a:solidFill>
            <a:srgbClr val="C49A45"/>
          </a:solidFill>
          <a:ln w="12700">
            <a:solidFill>
              <a:srgbClr val="C49A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1" name="Shape 20"/>
          <p:cNvSpPr/>
          <p:nvPr/>
        </p:nvSpPr>
        <p:spPr>
          <a:xfrm>
            <a:off x="9787128" y="1417319"/>
            <a:ext cx="1679449" cy="530353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2" name="Text 21"/>
          <p:cNvSpPr txBox="1"/>
          <p:nvPr/>
        </p:nvSpPr>
        <p:spPr>
          <a:xfrm>
            <a:off x="9841992" y="1545336"/>
            <a:ext cx="156972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900" b="1">
                <a:solidFill>
                  <a:srgbClr val="3D5A80"/>
                </a:solidFill>
              </a:defRPr>
            </a:lvl1pPr>
          </a:lstStyle>
          <a:p>
            <a:r>
              <a:t>6. mettre à jour population</a:t>
            </a:r>
          </a:p>
        </p:txBody>
      </p:sp>
      <p:sp>
        <p:nvSpPr>
          <p:cNvPr id="153" name="Shape 22"/>
          <p:cNvSpPr/>
          <p:nvPr/>
        </p:nvSpPr>
        <p:spPr>
          <a:xfrm>
            <a:off x="777240" y="2514600"/>
            <a:ext cx="3337560" cy="1965961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4" name="Shape 23"/>
          <p:cNvSpPr/>
          <p:nvPr/>
        </p:nvSpPr>
        <p:spPr>
          <a:xfrm>
            <a:off x="777240" y="2514599"/>
            <a:ext cx="73153" cy="1965962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5" name="Text 24"/>
          <p:cNvSpPr txBox="1"/>
          <p:nvPr/>
        </p:nvSpPr>
        <p:spPr>
          <a:xfrm>
            <a:off x="978407" y="2642616"/>
            <a:ext cx="3008378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200" b="1">
                <a:solidFill>
                  <a:srgbClr val="1B1C1E"/>
                </a:solidFill>
              </a:defRPr>
            </a:lvl1pPr>
          </a:lstStyle>
          <a:p>
            <a:r>
              <a:t>Parent</a:t>
            </a:r>
          </a:p>
        </p:txBody>
      </p:sp>
      <p:sp>
        <p:nvSpPr>
          <p:cNvPr id="156" name="Text 25"/>
          <p:cNvSpPr txBox="1"/>
          <p:nvPr/>
        </p:nvSpPr>
        <p:spPr>
          <a:xfrm>
            <a:off x="978407" y="2971799"/>
            <a:ext cx="2990090" cy="1399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7625B"/>
                </a:solidFill>
              </a:defRPr>
            </a:lvl1pPr>
          </a:lstStyle>
          <a:p>
            <a:r>
              <a:t>Choisi dans la population déjà évaluée. Le plus souvent dans le top des scores, parfois plus largement pour garder de la diversité.</a:t>
            </a:r>
          </a:p>
        </p:txBody>
      </p:sp>
      <p:sp>
        <p:nvSpPr>
          <p:cNvPr id="157" name="Shape 26"/>
          <p:cNvSpPr/>
          <p:nvPr/>
        </p:nvSpPr>
        <p:spPr>
          <a:xfrm>
            <a:off x="4434840" y="2514600"/>
            <a:ext cx="3337560" cy="1965961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8" name="Shape 27"/>
          <p:cNvSpPr/>
          <p:nvPr/>
        </p:nvSpPr>
        <p:spPr>
          <a:xfrm>
            <a:off x="4434840" y="2514599"/>
            <a:ext cx="73153" cy="1965962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9" name="Text 28"/>
          <p:cNvSpPr txBox="1"/>
          <p:nvPr/>
        </p:nvSpPr>
        <p:spPr>
          <a:xfrm>
            <a:off x="4636008" y="2642616"/>
            <a:ext cx="300837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200" b="1">
                <a:solidFill>
                  <a:srgbClr val="1B1C1E"/>
                </a:solidFill>
              </a:defRPr>
            </a:lvl1pPr>
          </a:lstStyle>
          <a:p>
            <a:r>
              <a:t>Candidat</a:t>
            </a:r>
          </a:p>
        </p:txBody>
      </p:sp>
      <p:sp>
        <p:nvSpPr>
          <p:cNvPr id="160" name="Text 29"/>
          <p:cNvSpPr txBox="1"/>
          <p:nvPr/>
        </p:nvSpPr>
        <p:spPr>
          <a:xfrm>
            <a:off x="4636008" y="2971799"/>
            <a:ext cx="2990089" cy="1399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7625B"/>
                </a:solidFill>
              </a:defRPr>
            </a:lvl1pPr>
          </a:lstStyle>
          <a:p>
            <a:r>
              <a:t>Créé par mutation locale ou, avec une petite probabilité, par injection d’un graphe frais.</a:t>
            </a:r>
          </a:p>
        </p:txBody>
      </p:sp>
      <p:sp>
        <p:nvSpPr>
          <p:cNvPr id="161" name="Shape 30"/>
          <p:cNvSpPr/>
          <p:nvPr/>
        </p:nvSpPr>
        <p:spPr>
          <a:xfrm>
            <a:off x="8092440" y="2514600"/>
            <a:ext cx="3337560" cy="1965961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2" name="Shape 31"/>
          <p:cNvSpPr/>
          <p:nvPr/>
        </p:nvSpPr>
        <p:spPr>
          <a:xfrm>
            <a:off x="8092440" y="2514599"/>
            <a:ext cx="73153" cy="1965962"/>
          </a:xfrm>
          <a:prstGeom prst="rect">
            <a:avLst/>
          </a:prstGeom>
          <a:solidFill>
            <a:srgbClr val="6B8E4E"/>
          </a:solidFill>
          <a:ln w="12700">
            <a:solidFill>
              <a:srgbClr val="6B8E4E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3" name="Text 32"/>
          <p:cNvSpPr txBox="1"/>
          <p:nvPr/>
        </p:nvSpPr>
        <p:spPr>
          <a:xfrm>
            <a:off x="8293607" y="2642616"/>
            <a:ext cx="300837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200" b="1">
                <a:solidFill>
                  <a:srgbClr val="1B1C1E"/>
                </a:solidFill>
              </a:defRPr>
            </a:lvl1pPr>
          </a:lstStyle>
          <a:p>
            <a:r>
              <a:t>Arrêt</a:t>
            </a:r>
          </a:p>
        </p:txBody>
      </p:sp>
      <p:sp>
        <p:nvSpPr>
          <p:cNvPr id="164" name="Text 33"/>
          <p:cNvSpPr txBox="1"/>
          <p:nvPr/>
        </p:nvSpPr>
        <p:spPr>
          <a:xfrm>
            <a:off x="8293607" y="2971799"/>
            <a:ext cx="2990089" cy="1399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7625B"/>
                </a:solidFill>
              </a:defRPr>
            </a:lvl1pPr>
          </a:lstStyle>
          <a:p>
            <a:r>
              <a:t>Dès qu’un candidat viole strictement la conjecture après recalcul, on retourne le graph6.</a:t>
            </a:r>
          </a:p>
        </p:txBody>
      </p:sp>
      <p:sp>
        <p:nvSpPr>
          <p:cNvPr id="165" name="Text 34"/>
          <p:cNvSpPr txBox="1"/>
          <p:nvPr/>
        </p:nvSpPr>
        <p:spPr>
          <a:xfrm>
            <a:off x="914399" y="5069839"/>
            <a:ext cx="10332722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1B1C1E"/>
                </a:solidFill>
              </a:defRPr>
            </a:lvl1pPr>
          </a:lstStyle>
          <a:p>
            <a:r>
              <a:t>L’itération est donc une recherche locale contrôlée, pas une génération indépendante à chaque fois.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0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16E6B"/>
          </a:solidFill>
          <a:ln w="12700">
            <a:solidFill>
              <a:srgbClr val="216E6B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8" name="Text 1"/>
          <p:cNvSpPr txBox="1"/>
          <p:nvPr/>
        </p:nvSpPr>
        <p:spPr>
          <a:xfrm>
            <a:off x="594360" y="366267"/>
            <a:ext cx="56692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216E6B"/>
                </a:solidFill>
              </a:defRPr>
            </a:lvl1pPr>
          </a:lstStyle>
          <a:p>
            <a:r>
              <a:t>SÉLECTION</a:t>
            </a:r>
          </a:p>
        </p:txBody>
      </p:sp>
      <p:sp>
        <p:nvSpPr>
          <p:cNvPr id="169" name="Text 2"/>
          <p:cNvSpPr txBox="1"/>
          <p:nvPr/>
        </p:nvSpPr>
        <p:spPr>
          <a:xfrm>
            <a:off x="594359" y="603504"/>
            <a:ext cx="10972801" cy="512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400" b="1">
                <a:solidFill>
                  <a:srgbClr val="1B1C1E"/>
                </a:solidFill>
              </a:defRPr>
            </a:lvl1pPr>
          </a:lstStyle>
          <a:p>
            <a:r>
              <a:t>Comment on choisit le parent</a:t>
            </a:r>
          </a:p>
        </p:txBody>
      </p:sp>
      <p:sp>
        <p:nvSpPr>
          <p:cNvPr id="170" name="Shape 3"/>
          <p:cNvSpPr/>
          <p:nvPr/>
        </p:nvSpPr>
        <p:spPr>
          <a:xfrm>
            <a:off x="502919" y="6345935"/>
            <a:ext cx="11201402" cy="1"/>
          </a:xfrm>
          <a:prstGeom prst="line">
            <a:avLst/>
          </a:prstGeom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1" name="Text 4"/>
          <p:cNvSpPr txBox="1"/>
          <p:nvPr/>
        </p:nvSpPr>
        <p:spPr>
          <a:xfrm>
            <a:off x="502919" y="6474460"/>
            <a:ext cx="4937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67625B"/>
                </a:solidFill>
              </a:defRPr>
            </a:lvl1pPr>
          </a:lstStyle>
          <a:p>
            <a:r>
              <a:t>GraphBench - Présentation algorithme</a:t>
            </a:r>
          </a:p>
        </p:txBody>
      </p:sp>
      <p:sp>
        <p:nvSpPr>
          <p:cNvPr id="172" name="Shape 5"/>
          <p:cNvSpPr/>
          <p:nvPr/>
        </p:nvSpPr>
        <p:spPr>
          <a:xfrm>
            <a:off x="868680" y="1325880"/>
            <a:ext cx="3246121" cy="246888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3" name="Shape 6"/>
          <p:cNvSpPr/>
          <p:nvPr/>
        </p:nvSpPr>
        <p:spPr>
          <a:xfrm>
            <a:off x="868680" y="1325879"/>
            <a:ext cx="73153" cy="2468882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4" name="Text 7"/>
          <p:cNvSpPr txBox="1"/>
          <p:nvPr/>
        </p:nvSpPr>
        <p:spPr>
          <a:xfrm>
            <a:off x="1069848" y="1453896"/>
            <a:ext cx="2916936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200" b="1">
                <a:solidFill>
                  <a:srgbClr val="1B1C1E"/>
                </a:solidFill>
              </a:defRPr>
            </a:lvl1pPr>
          </a:lstStyle>
          <a:p>
            <a:r>
              <a:t>Population triée</a:t>
            </a:r>
          </a:p>
        </p:txBody>
      </p:sp>
      <p:sp>
        <p:nvSpPr>
          <p:cNvPr id="175" name="Text 8"/>
          <p:cNvSpPr txBox="1"/>
          <p:nvPr/>
        </p:nvSpPr>
        <p:spPr>
          <a:xfrm>
            <a:off x="1069847" y="1783079"/>
            <a:ext cx="2898650" cy="1901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200">
                <a:solidFill>
                  <a:srgbClr val="67625B"/>
                </a:solidFill>
              </a:defRPr>
            </a:lvl1pPr>
          </a:lstStyle>
          <a:p>
            <a:r>
              <a:t>Chaque graphe est associé à un score objectif. La population est triée du meilleur au moins bon.</a:t>
            </a:r>
          </a:p>
        </p:txBody>
      </p:sp>
      <p:sp>
        <p:nvSpPr>
          <p:cNvPr id="176" name="Shape 9"/>
          <p:cNvSpPr/>
          <p:nvPr/>
        </p:nvSpPr>
        <p:spPr>
          <a:xfrm>
            <a:off x="4480559" y="1325880"/>
            <a:ext cx="3246121" cy="246888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7" name="Shape 10"/>
          <p:cNvSpPr/>
          <p:nvPr/>
        </p:nvSpPr>
        <p:spPr>
          <a:xfrm>
            <a:off x="4480559" y="1325879"/>
            <a:ext cx="73153" cy="2468882"/>
          </a:xfrm>
          <a:prstGeom prst="rect">
            <a:avLst/>
          </a:prstGeom>
          <a:solidFill>
            <a:srgbClr val="216E6B"/>
          </a:solidFill>
          <a:ln w="12700">
            <a:solidFill>
              <a:srgbClr val="216E6B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8" name="Text 11"/>
          <p:cNvSpPr txBox="1"/>
          <p:nvPr/>
        </p:nvSpPr>
        <p:spPr>
          <a:xfrm>
            <a:off x="4681728" y="1453896"/>
            <a:ext cx="291693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200" b="1">
                <a:solidFill>
                  <a:srgbClr val="1B1C1E"/>
                </a:solidFill>
              </a:defRPr>
            </a:lvl1pPr>
          </a:lstStyle>
          <a:p>
            <a:r>
              <a:t>Exploitation</a:t>
            </a:r>
          </a:p>
        </p:txBody>
      </p:sp>
      <p:sp>
        <p:nvSpPr>
          <p:cNvPr id="179" name="Text 12"/>
          <p:cNvSpPr txBox="1"/>
          <p:nvPr/>
        </p:nvSpPr>
        <p:spPr>
          <a:xfrm>
            <a:off x="4681728" y="1783079"/>
            <a:ext cx="2898649" cy="1901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200">
                <a:solidFill>
                  <a:srgbClr val="67625B"/>
                </a:solidFill>
              </a:defRPr>
            </a:lvl1pPr>
          </a:lstStyle>
          <a:p>
            <a:r>
              <a:t>Dans 75 % des cas, on choisit un parent dans le top de la population, environ le meilleur cinquième.</a:t>
            </a:r>
          </a:p>
        </p:txBody>
      </p:sp>
      <p:sp>
        <p:nvSpPr>
          <p:cNvPr id="180" name="Shape 13"/>
          <p:cNvSpPr/>
          <p:nvPr/>
        </p:nvSpPr>
        <p:spPr>
          <a:xfrm>
            <a:off x="8092440" y="1325880"/>
            <a:ext cx="3246121" cy="246888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1" name="Shape 14"/>
          <p:cNvSpPr/>
          <p:nvPr/>
        </p:nvSpPr>
        <p:spPr>
          <a:xfrm>
            <a:off x="8092440" y="1325879"/>
            <a:ext cx="73153" cy="2468882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2" name="Text 15"/>
          <p:cNvSpPr txBox="1"/>
          <p:nvPr/>
        </p:nvSpPr>
        <p:spPr>
          <a:xfrm>
            <a:off x="8293607" y="1453896"/>
            <a:ext cx="291693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200" b="1">
                <a:solidFill>
                  <a:srgbClr val="1B1C1E"/>
                </a:solidFill>
              </a:defRPr>
            </a:lvl1pPr>
          </a:lstStyle>
          <a:p>
            <a:r>
              <a:t>Exploration</a:t>
            </a:r>
          </a:p>
        </p:txBody>
      </p:sp>
      <p:sp>
        <p:nvSpPr>
          <p:cNvPr id="183" name="Text 16"/>
          <p:cNvSpPr txBox="1"/>
          <p:nvPr/>
        </p:nvSpPr>
        <p:spPr>
          <a:xfrm>
            <a:off x="8293607" y="1783079"/>
            <a:ext cx="2898649" cy="1901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200">
                <a:solidFill>
                  <a:srgbClr val="67625B"/>
                </a:solidFill>
              </a:defRPr>
            </a:lvl1pPr>
          </a:lstStyle>
          <a:p>
            <a:r>
              <a:t>Dans 25 % des cas, on choisit dans toute la population pour éviter de rester bloqué.</a:t>
            </a:r>
          </a:p>
        </p:txBody>
      </p:sp>
      <p:sp>
        <p:nvSpPr>
          <p:cNvPr id="184" name="Shape 17"/>
          <p:cNvSpPr/>
          <p:nvPr/>
        </p:nvSpPr>
        <p:spPr>
          <a:xfrm>
            <a:off x="2103120" y="4297679"/>
            <a:ext cx="8046720" cy="1024129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pPr>
              <a:defRPr sz="3200"/>
            </a:pPr>
            <a:endParaRPr/>
          </a:p>
        </p:txBody>
      </p:sp>
      <p:sp>
        <p:nvSpPr>
          <p:cNvPr id="185" name="Shape 18"/>
          <p:cNvSpPr/>
          <p:nvPr/>
        </p:nvSpPr>
        <p:spPr>
          <a:xfrm>
            <a:off x="2103120" y="4297679"/>
            <a:ext cx="8046720" cy="301753"/>
          </a:xfrm>
          <a:prstGeom prst="rect">
            <a:avLst/>
          </a:prstGeom>
          <a:solidFill>
            <a:srgbClr val="183A3A"/>
          </a:solidFill>
          <a:ln w="12700">
            <a:solidFill>
              <a:srgbClr val="183A3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6" name="Text 19"/>
          <p:cNvSpPr txBox="1"/>
          <p:nvPr/>
        </p:nvSpPr>
        <p:spPr>
          <a:xfrm>
            <a:off x="2176271" y="4371340"/>
            <a:ext cx="79004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 b="1">
                <a:solidFill>
                  <a:srgbClr val="FFFFFF"/>
                </a:solidFill>
              </a:defRPr>
            </a:lvl1pPr>
          </a:lstStyle>
          <a:p>
            <a:r>
              <a:t>idée simplifiée</a:t>
            </a:r>
          </a:p>
        </p:txBody>
      </p:sp>
      <p:sp>
        <p:nvSpPr>
          <p:cNvPr id="187" name="Text 20"/>
          <p:cNvSpPr txBox="1"/>
          <p:nvPr/>
        </p:nvSpPr>
        <p:spPr>
          <a:xfrm>
            <a:off x="2212848" y="4709159"/>
            <a:ext cx="7827265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>
              <a:defRPr sz="1000">
                <a:solidFill>
                  <a:srgbClr val="1B1C1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si random &lt; 0.75 : parent = choix_aleatoire(top 20%)</a:t>
            </a:r>
          </a:p>
          <a:p>
            <a:pPr>
              <a:defRPr sz="1000">
                <a:solidFill>
                  <a:srgbClr val="1B1C1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sinon : parent = choix_aleatoire(population entière)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0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16E6B"/>
          </a:solidFill>
          <a:ln w="12700">
            <a:solidFill>
              <a:srgbClr val="216E6B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0" name="Text 1"/>
          <p:cNvSpPr txBox="1"/>
          <p:nvPr/>
        </p:nvSpPr>
        <p:spPr>
          <a:xfrm>
            <a:off x="594360" y="366267"/>
            <a:ext cx="56692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216E6B"/>
                </a:solidFill>
              </a:defRPr>
            </a:lvl1pPr>
          </a:lstStyle>
          <a:p>
            <a:r>
              <a:t>MUTATIONS</a:t>
            </a:r>
          </a:p>
        </p:txBody>
      </p:sp>
      <p:sp>
        <p:nvSpPr>
          <p:cNvPr id="191" name="Text 2"/>
          <p:cNvSpPr txBox="1"/>
          <p:nvPr/>
        </p:nvSpPr>
        <p:spPr>
          <a:xfrm>
            <a:off x="594359" y="603504"/>
            <a:ext cx="10972801" cy="512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400" b="1">
                <a:solidFill>
                  <a:srgbClr val="1B1C1E"/>
                </a:solidFill>
              </a:defRPr>
            </a:lvl1pPr>
          </a:lstStyle>
          <a:p>
            <a:r>
              <a:t>Comment on sélectionne les mutations</a:t>
            </a:r>
          </a:p>
        </p:txBody>
      </p:sp>
      <p:sp>
        <p:nvSpPr>
          <p:cNvPr id="192" name="Shape 3"/>
          <p:cNvSpPr/>
          <p:nvPr/>
        </p:nvSpPr>
        <p:spPr>
          <a:xfrm>
            <a:off x="502919" y="6345935"/>
            <a:ext cx="11201402" cy="1"/>
          </a:xfrm>
          <a:prstGeom prst="line">
            <a:avLst/>
          </a:prstGeom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3" name="Text 4"/>
          <p:cNvSpPr txBox="1"/>
          <p:nvPr/>
        </p:nvSpPr>
        <p:spPr>
          <a:xfrm>
            <a:off x="502919" y="6474460"/>
            <a:ext cx="4937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67625B"/>
                </a:solidFill>
              </a:defRPr>
            </a:lvl1pPr>
          </a:lstStyle>
          <a:p>
            <a:r>
              <a:t>GraphBench - Présentation algorithme</a:t>
            </a:r>
          </a:p>
        </p:txBody>
      </p:sp>
      <p:sp>
        <p:nvSpPr>
          <p:cNvPr id="194" name="Shape 5"/>
          <p:cNvSpPr/>
          <p:nvPr/>
        </p:nvSpPr>
        <p:spPr>
          <a:xfrm>
            <a:off x="685800" y="1234439"/>
            <a:ext cx="3566160" cy="1965961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5" name="Shape 6"/>
          <p:cNvSpPr/>
          <p:nvPr/>
        </p:nvSpPr>
        <p:spPr>
          <a:xfrm>
            <a:off x="685799" y="1234439"/>
            <a:ext cx="73154" cy="1965961"/>
          </a:xfrm>
          <a:prstGeom prst="rect">
            <a:avLst/>
          </a:prstGeom>
          <a:solidFill>
            <a:srgbClr val="6B8E4E"/>
          </a:solidFill>
          <a:ln w="12700">
            <a:solidFill>
              <a:srgbClr val="6B8E4E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6" name="Text 7"/>
          <p:cNvSpPr txBox="1"/>
          <p:nvPr/>
        </p:nvSpPr>
        <p:spPr>
          <a:xfrm>
            <a:off x="886967" y="1362455"/>
            <a:ext cx="323697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200" b="1">
                <a:solidFill>
                  <a:srgbClr val="1B1C1E"/>
                </a:solidFill>
              </a:defRPr>
            </a:lvl1pPr>
          </a:lstStyle>
          <a:p>
            <a:r>
              <a:t>Si tree</a:t>
            </a:r>
          </a:p>
        </p:txBody>
      </p:sp>
      <p:sp>
        <p:nvSpPr>
          <p:cNvPr id="197" name="Text 8"/>
          <p:cNvSpPr txBox="1"/>
          <p:nvPr/>
        </p:nvSpPr>
        <p:spPr>
          <a:xfrm>
            <a:off x="886967" y="1691639"/>
            <a:ext cx="3218689" cy="1399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7625B"/>
                </a:solidFill>
              </a:defRPr>
            </a:lvl1pPr>
          </a:lstStyle>
          <a:p>
            <a:r>
              <a:t>Mutations adaptées aux arbres : add_leaf, remove_leaf, subdivide_edge, move_leaf. On évite de créer un cycle.</a:t>
            </a:r>
          </a:p>
        </p:txBody>
      </p:sp>
      <p:sp>
        <p:nvSpPr>
          <p:cNvPr id="198" name="Shape 9"/>
          <p:cNvSpPr/>
          <p:nvPr/>
        </p:nvSpPr>
        <p:spPr>
          <a:xfrm>
            <a:off x="4526279" y="1234439"/>
            <a:ext cx="3566161" cy="1965961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9" name="Shape 10"/>
          <p:cNvSpPr/>
          <p:nvPr/>
        </p:nvSpPr>
        <p:spPr>
          <a:xfrm>
            <a:off x="4526279" y="1234439"/>
            <a:ext cx="73153" cy="1965961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0" name="Text 11"/>
          <p:cNvSpPr txBox="1"/>
          <p:nvPr/>
        </p:nvSpPr>
        <p:spPr>
          <a:xfrm>
            <a:off x="4727447" y="1362455"/>
            <a:ext cx="323697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200" b="1">
                <a:solidFill>
                  <a:srgbClr val="1B1C1E"/>
                </a:solidFill>
              </a:defRPr>
            </a:lvl1pPr>
          </a:lstStyle>
          <a:p>
            <a:r>
              <a:t>Si claw_free</a:t>
            </a:r>
          </a:p>
        </p:txBody>
      </p:sp>
      <p:sp>
        <p:nvSpPr>
          <p:cNvPr id="201" name="Text 12"/>
          <p:cNvSpPr txBox="1"/>
          <p:nvPr/>
        </p:nvSpPr>
        <p:spPr>
          <a:xfrm>
            <a:off x="4727447" y="1691639"/>
            <a:ext cx="3218689" cy="1399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7625B"/>
                </a:solidFill>
              </a:defRPr>
            </a:lvl1pPr>
          </a:lstStyle>
          <a:p>
            <a:r>
              <a:t>Mutations plus prudentes : add_edge, add_true_twin, subdivide_edge, remove_non_bridge_edge, densify_local.</a:t>
            </a:r>
          </a:p>
        </p:txBody>
      </p:sp>
      <p:sp>
        <p:nvSpPr>
          <p:cNvPr id="202" name="Shape 13"/>
          <p:cNvSpPr/>
          <p:nvPr/>
        </p:nvSpPr>
        <p:spPr>
          <a:xfrm>
            <a:off x="8366759" y="1234439"/>
            <a:ext cx="3154681" cy="1965961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3" name="Shape 14"/>
          <p:cNvSpPr/>
          <p:nvPr/>
        </p:nvSpPr>
        <p:spPr>
          <a:xfrm>
            <a:off x="8366759" y="1234439"/>
            <a:ext cx="73153" cy="1965961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4" name="Text 15"/>
          <p:cNvSpPr txBox="1"/>
          <p:nvPr/>
        </p:nvSpPr>
        <p:spPr>
          <a:xfrm>
            <a:off x="8567928" y="1362455"/>
            <a:ext cx="282549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200" b="1">
                <a:solidFill>
                  <a:srgbClr val="1B1C1E"/>
                </a:solidFill>
              </a:defRPr>
            </a:lvl1pPr>
          </a:lstStyle>
          <a:p>
            <a:r>
              <a:t>Sinon connected</a:t>
            </a:r>
          </a:p>
        </p:txBody>
      </p:sp>
      <p:sp>
        <p:nvSpPr>
          <p:cNvPr id="205" name="Text 16"/>
          <p:cNvSpPr txBox="1"/>
          <p:nvPr/>
        </p:nvSpPr>
        <p:spPr>
          <a:xfrm>
            <a:off x="8567928" y="1691639"/>
            <a:ext cx="2807209" cy="1399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900">
                <a:solidFill>
                  <a:srgbClr val="67625B"/>
                </a:solidFill>
              </a:defRPr>
            </a:lvl1pPr>
          </a:lstStyle>
          <a:p>
            <a:r>
              <a:t>Liste plus large : add_edge, remove_non_bridge_edge, add_leaf, remove_vertex, subdivide_edge, densify_local, add_path.</a:t>
            </a:r>
          </a:p>
        </p:txBody>
      </p:sp>
      <p:sp>
        <p:nvSpPr>
          <p:cNvPr id="206" name="Text 17"/>
          <p:cNvSpPr txBox="1"/>
          <p:nvPr/>
        </p:nvSpPr>
        <p:spPr>
          <a:xfrm>
            <a:off x="868680" y="3886199"/>
            <a:ext cx="10515601" cy="4114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1600" b="1">
                <a:solidFill>
                  <a:srgbClr val="183A3A"/>
                </a:solidFill>
              </a:defRPr>
            </a:lvl1pPr>
          </a:lstStyle>
          <a:p>
            <a:r>
              <a:t>La classe du graphe choisit la liste autorisée ; ensuite une mutation est tirée aléatoirement dans cette liste.</a:t>
            </a:r>
          </a:p>
        </p:txBody>
      </p:sp>
      <p:sp>
        <p:nvSpPr>
          <p:cNvPr id="207" name="Shape 18"/>
          <p:cNvSpPr/>
          <p:nvPr/>
        </p:nvSpPr>
        <p:spPr>
          <a:xfrm>
            <a:off x="566927" y="4736591"/>
            <a:ext cx="2048257" cy="530353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8" name="Text 19"/>
          <p:cNvSpPr txBox="1"/>
          <p:nvPr/>
        </p:nvSpPr>
        <p:spPr>
          <a:xfrm>
            <a:off x="621791" y="4864608"/>
            <a:ext cx="1938529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1000" b="1">
                <a:solidFill>
                  <a:srgbClr val="3D5A80"/>
                </a:solidFill>
              </a:defRPr>
            </a:lvl1pPr>
          </a:lstStyle>
          <a:p>
            <a:r>
              <a:t>classe du graphe</a:t>
            </a:r>
          </a:p>
        </p:txBody>
      </p:sp>
      <p:sp>
        <p:nvSpPr>
          <p:cNvPr id="209" name="Shape 20"/>
          <p:cNvSpPr/>
          <p:nvPr/>
        </p:nvSpPr>
        <p:spPr>
          <a:xfrm>
            <a:off x="2633472" y="4919471"/>
            <a:ext cx="164593" cy="164593"/>
          </a:xfrm>
          <a:prstGeom prst="chevron">
            <a:avLst>
              <a:gd name="adj" fmla="val 50000"/>
            </a:avLst>
          </a:prstGeom>
          <a:solidFill>
            <a:srgbClr val="C49A45"/>
          </a:solidFill>
          <a:ln w="12700">
            <a:solidFill>
              <a:srgbClr val="C49A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0" name="Shape 21"/>
          <p:cNvSpPr/>
          <p:nvPr/>
        </p:nvSpPr>
        <p:spPr>
          <a:xfrm>
            <a:off x="2779776" y="4736591"/>
            <a:ext cx="2048257" cy="530353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1" name="Text 22"/>
          <p:cNvSpPr txBox="1"/>
          <p:nvPr/>
        </p:nvSpPr>
        <p:spPr>
          <a:xfrm>
            <a:off x="2834639" y="4864608"/>
            <a:ext cx="1938529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1000" b="1">
                <a:solidFill>
                  <a:srgbClr val="216E6B"/>
                </a:solidFill>
              </a:defRPr>
            </a:lvl1pPr>
          </a:lstStyle>
          <a:p>
            <a:r>
              <a:t>liste de mutations</a:t>
            </a:r>
          </a:p>
        </p:txBody>
      </p:sp>
      <p:sp>
        <p:nvSpPr>
          <p:cNvPr id="212" name="Shape 23"/>
          <p:cNvSpPr/>
          <p:nvPr/>
        </p:nvSpPr>
        <p:spPr>
          <a:xfrm>
            <a:off x="4846320" y="4919471"/>
            <a:ext cx="164593" cy="164593"/>
          </a:xfrm>
          <a:prstGeom prst="chevron">
            <a:avLst>
              <a:gd name="adj" fmla="val 50000"/>
            </a:avLst>
          </a:prstGeom>
          <a:solidFill>
            <a:srgbClr val="C49A45"/>
          </a:solidFill>
          <a:ln w="12700">
            <a:solidFill>
              <a:srgbClr val="C49A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3" name="Shape 24"/>
          <p:cNvSpPr/>
          <p:nvPr/>
        </p:nvSpPr>
        <p:spPr>
          <a:xfrm>
            <a:off x="4992623" y="4736591"/>
            <a:ext cx="2048257" cy="530353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4" name="Text 25"/>
          <p:cNvSpPr txBox="1"/>
          <p:nvPr/>
        </p:nvSpPr>
        <p:spPr>
          <a:xfrm>
            <a:off x="5047488" y="4864608"/>
            <a:ext cx="1938529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1000" b="1">
                <a:solidFill>
                  <a:srgbClr val="C49A45"/>
                </a:solidFill>
              </a:defRPr>
            </a:lvl1pPr>
          </a:lstStyle>
          <a:p>
            <a:r>
              <a:t>tirage aléatoire</a:t>
            </a:r>
          </a:p>
        </p:txBody>
      </p:sp>
      <p:sp>
        <p:nvSpPr>
          <p:cNvPr id="215" name="Shape 26"/>
          <p:cNvSpPr/>
          <p:nvPr/>
        </p:nvSpPr>
        <p:spPr>
          <a:xfrm>
            <a:off x="7059168" y="4919471"/>
            <a:ext cx="164593" cy="164593"/>
          </a:xfrm>
          <a:prstGeom prst="chevron">
            <a:avLst>
              <a:gd name="adj" fmla="val 50000"/>
            </a:avLst>
          </a:prstGeom>
          <a:solidFill>
            <a:srgbClr val="C49A45"/>
          </a:solidFill>
          <a:ln w="12700">
            <a:solidFill>
              <a:srgbClr val="C49A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6" name="Shape 27"/>
          <p:cNvSpPr/>
          <p:nvPr/>
        </p:nvSpPr>
        <p:spPr>
          <a:xfrm>
            <a:off x="7205471" y="4736591"/>
            <a:ext cx="2048257" cy="530353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7" name="Text 28"/>
          <p:cNvSpPr txBox="1"/>
          <p:nvPr/>
        </p:nvSpPr>
        <p:spPr>
          <a:xfrm>
            <a:off x="7260335" y="4864608"/>
            <a:ext cx="1938529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1000" b="1">
                <a:solidFill>
                  <a:srgbClr val="6B8E4E"/>
                </a:solidFill>
              </a:defRPr>
            </a:lvl1pPr>
          </a:lstStyle>
          <a:p>
            <a:r>
              <a:t>réparation si besoin</a:t>
            </a:r>
          </a:p>
        </p:txBody>
      </p:sp>
      <p:sp>
        <p:nvSpPr>
          <p:cNvPr id="218" name="Shape 29"/>
          <p:cNvSpPr/>
          <p:nvPr/>
        </p:nvSpPr>
        <p:spPr>
          <a:xfrm>
            <a:off x="9272016" y="4919471"/>
            <a:ext cx="164593" cy="164593"/>
          </a:xfrm>
          <a:prstGeom prst="chevron">
            <a:avLst>
              <a:gd name="adj" fmla="val 50000"/>
            </a:avLst>
          </a:prstGeom>
          <a:solidFill>
            <a:srgbClr val="C49A45"/>
          </a:solidFill>
          <a:ln w="12700">
            <a:solidFill>
              <a:srgbClr val="C49A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9" name="Shape 30"/>
          <p:cNvSpPr/>
          <p:nvPr/>
        </p:nvSpPr>
        <p:spPr>
          <a:xfrm>
            <a:off x="9418319" y="4736591"/>
            <a:ext cx="2048257" cy="530353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0" name="Text 31"/>
          <p:cNvSpPr txBox="1"/>
          <p:nvPr/>
        </p:nvSpPr>
        <p:spPr>
          <a:xfrm>
            <a:off x="9473183" y="4864608"/>
            <a:ext cx="1938529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1000" b="1">
                <a:solidFill>
                  <a:srgbClr val="B85C38"/>
                </a:solidFill>
              </a:defRPr>
            </a:lvl1pPr>
          </a:lstStyle>
          <a:p>
            <a:r>
              <a:t>évaluation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0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16E6B"/>
          </a:solidFill>
          <a:ln w="12700">
            <a:solidFill>
              <a:srgbClr val="216E6B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3" name="Text 1"/>
          <p:cNvSpPr txBox="1"/>
          <p:nvPr/>
        </p:nvSpPr>
        <p:spPr>
          <a:xfrm>
            <a:off x="594360" y="366267"/>
            <a:ext cx="56692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216E6B"/>
                </a:solidFill>
              </a:defRPr>
            </a:lvl1pPr>
          </a:lstStyle>
          <a:p>
            <a:r>
              <a:t>VALIDATION</a:t>
            </a:r>
          </a:p>
        </p:txBody>
      </p:sp>
      <p:sp>
        <p:nvSpPr>
          <p:cNvPr id="224" name="Text 2"/>
          <p:cNvSpPr txBox="1"/>
          <p:nvPr/>
        </p:nvSpPr>
        <p:spPr>
          <a:xfrm>
            <a:off x="594359" y="603504"/>
            <a:ext cx="10972801" cy="512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400" b="1">
                <a:solidFill>
                  <a:srgbClr val="1B1C1E"/>
                </a:solidFill>
              </a:defRPr>
            </a:lvl1pPr>
          </a:lstStyle>
          <a:p>
            <a:r>
              <a:t>Validation : score heuristique vs preuve du contre-exemple</a:t>
            </a:r>
          </a:p>
        </p:txBody>
      </p:sp>
      <p:sp>
        <p:nvSpPr>
          <p:cNvPr id="225" name="Shape 3"/>
          <p:cNvSpPr/>
          <p:nvPr/>
        </p:nvSpPr>
        <p:spPr>
          <a:xfrm>
            <a:off x="502919" y="6345935"/>
            <a:ext cx="11201402" cy="1"/>
          </a:xfrm>
          <a:prstGeom prst="line">
            <a:avLst/>
          </a:prstGeom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6" name="Text 4"/>
          <p:cNvSpPr txBox="1"/>
          <p:nvPr/>
        </p:nvSpPr>
        <p:spPr>
          <a:xfrm>
            <a:off x="502919" y="6474460"/>
            <a:ext cx="4937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67625B"/>
                </a:solidFill>
              </a:defRPr>
            </a:lvl1pPr>
          </a:lstStyle>
          <a:p>
            <a:r>
              <a:t>GraphBench - Présentation algorithme</a:t>
            </a:r>
          </a:p>
        </p:txBody>
      </p:sp>
      <p:sp>
        <p:nvSpPr>
          <p:cNvPr id="227" name="Shape 5"/>
          <p:cNvSpPr/>
          <p:nvPr/>
        </p:nvSpPr>
        <p:spPr>
          <a:xfrm>
            <a:off x="731519" y="1325880"/>
            <a:ext cx="5303522" cy="2057401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8" name="Shape 6"/>
          <p:cNvSpPr/>
          <p:nvPr/>
        </p:nvSpPr>
        <p:spPr>
          <a:xfrm>
            <a:off x="731519" y="1325880"/>
            <a:ext cx="73153" cy="2057401"/>
          </a:xfrm>
          <a:prstGeom prst="rect">
            <a:avLst/>
          </a:prstGeom>
          <a:solidFill>
            <a:srgbClr val="C49A45"/>
          </a:solidFill>
          <a:ln w="12700">
            <a:solidFill>
              <a:srgbClr val="C49A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9" name="Text 7"/>
          <p:cNvSpPr txBox="1"/>
          <p:nvPr/>
        </p:nvSpPr>
        <p:spPr>
          <a:xfrm>
            <a:off x="932688" y="1453896"/>
            <a:ext cx="4974336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200" b="1">
                <a:solidFill>
                  <a:srgbClr val="1B1C1E"/>
                </a:solidFill>
              </a:defRPr>
            </a:lvl1pPr>
          </a:lstStyle>
          <a:p>
            <a:r>
              <a:t>Score heuristique</a:t>
            </a:r>
          </a:p>
        </p:txBody>
      </p:sp>
      <p:sp>
        <p:nvSpPr>
          <p:cNvPr id="230" name="Text 8"/>
          <p:cNvSpPr txBox="1"/>
          <p:nvPr/>
        </p:nvSpPr>
        <p:spPr>
          <a:xfrm>
            <a:off x="932687" y="1783079"/>
            <a:ext cx="4956050" cy="1490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100">
                <a:solidFill>
                  <a:srgbClr val="67625B"/>
                </a:solidFill>
              </a:defRPr>
            </a:lvl1pPr>
          </a:lstStyle>
          <a:p>
            <a:r>
              <a:t>Sert à classer les candidats et à choisir les parents. Il peut guider la recherche, mais ne prouve rien.</a:t>
            </a:r>
          </a:p>
        </p:txBody>
      </p:sp>
      <p:sp>
        <p:nvSpPr>
          <p:cNvPr id="231" name="Shape 9"/>
          <p:cNvSpPr/>
          <p:nvPr/>
        </p:nvSpPr>
        <p:spPr>
          <a:xfrm>
            <a:off x="6355079" y="1325880"/>
            <a:ext cx="5074921" cy="2057401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2" name="Shape 10"/>
          <p:cNvSpPr/>
          <p:nvPr/>
        </p:nvSpPr>
        <p:spPr>
          <a:xfrm>
            <a:off x="6355079" y="1325880"/>
            <a:ext cx="73153" cy="2057401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3" name="Text 11"/>
          <p:cNvSpPr txBox="1"/>
          <p:nvPr/>
        </p:nvSpPr>
        <p:spPr>
          <a:xfrm>
            <a:off x="6556247" y="1453896"/>
            <a:ext cx="474573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200" b="1">
                <a:solidFill>
                  <a:srgbClr val="1B1C1E"/>
                </a:solidFill>
              </a:defRPr>
            </a:lvl1pPr>
          </a:lstStyle>
          <a:p>
            <a:r>
              <a:t>Violation stricte</a:t>
            </a:r>
          </a:p>
        </p:txBody>
      </p:sp>
      <p:sp>
        <p:nvSpPr>
          <p:cNvPr id="234" name="Text 12"/>
          <p:cNvSpPr txBox="1"/>
          <p:nvPr/>
        </p:nvSpPr>
        <p:spPr>
          <a:xfrm>
            <a:off x="6556247" y="1783079"/>
            <a:ext cx="4727449" cy="1490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100">
                <a:solidFill>
                  <a:srgbClr val="67625B"/>
                </a:solidFill>
              </a:defRPr>
            </a:lvl1pPr>
          </a:lstStyle>
          <a:p>
            <a:r>
              <a:t>Un graphe est accepté seulement si la violation mathématique est positive après recalcul des invariants.</a:t>
            </a:r>
          </a:p>
        </p:txBody>
      </p:sp>
      <p:sp>
        <p:nvSpPr>
          <p:cNvPr id="235" name="Shape 13"/>
          <p:cNvSpPr/>
          <p:nvPr/>
        </p:nvSpPr>
        <p:spPr>
          <a:xfrm>
            <a:off x="1554480" y="3886200"/>
            <a:ext cx="9052560" cy="1170433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6" name="Shape 14"/>
          <p:cNvSpPr/>
          <p:nvPr/>
        </p:nvSpPr>
        <p:spPr>
          <a:xfrm>
            <a:off x="1554480" y="3886199"/>
            <a:ext cx="9052560" cy="301754"/>
          </a:xfrm>
          <a:prstGeom prst="rect">
            <a:avLst/>
          </a:prstGeom>
          <a:solidFill>
            <a:srgbClr val="183A3A"/>
          </a:solidFill>
          <a:ln w="12700">
            <a:solidFill>
              <a:srgbClr val="183A3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7" name="Text 15"/>
          <p:cNvSpPr txBox="1"/>
          <p:nvPr/>
        </p:nvSpPr>
        <p:spPr>
          <a:xfrm>
            <a:off x="1627631" y="3959860"/>
            <a:ext cx="890625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 b="1">
                <a:solidFill>
                  <a:srgbClr val="FFFFFF"/>
                </a:solidFill>
              </a:defRPr>
            </a:lvl1pPr>
          </a:lstStyle>
          <a:p>
            <a:r>
              <a:t>règle de validation</a:t>
            </a:r>
          </a:p>
        </p:txBody>
      </p:sp>
      <p:sp>
        <p:nvSpPr>
          <p:cNvPr id="238" name="Text 16"/>
          <p:cNvSpPr txBox="1"/>
          <p:nvPr/>
        </p:nvSpPr>
        <p:spPr>
          <a:xfrm>
            <a:off x="1664207" y="4297679"/>
            <a:ext cx="8833106" cy="694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>
              <a:defRPr sz="900">
                <a:solidFill>
                  <a:srgbClr val="1B1C1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si y &lt;= f(x) : violation = y(G) - f(x(G))</a:t>
            </a:r>
          </a:p>
          <a:p>
            <a:pPr>
              <a:defRPr sz="900">
                <a:solidFill>
                  <a:srgbClr val="1B1C1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si y &gt;= f(x) : violation = f(x(G)) - y(G)</a:t>
            </a:r>
          </a:p>
          <a:p>
            <a:pPr>
              <a:defRPr sz="900">
                <a:solidFill>
                  <a:srgbClr val="1B1C1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accepter seulement si violation &gt; 0 et classes vérifiées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0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16E6B"/>
          </a:solidFill>
          <a:ln w="12700">
            <a:solidFill>
              <a:srgbClr val="216E6B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1" name="Text 1"/>
          <p:cNvSpPr txBox="1"/>
          <p:nvPr/>
        </p:nvSpPr>
        <p:spPr>
          <a:xfrm>
            <a:off x="594360" y="366267"/>
            <a:ext cx="56692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216E6B"/>
                </a:solidFill>
              </a:defRPr>
            </a:lvl1pPr>
          </a:lstStyle>
          <a:p>
            <a:r>
              <a:t>VERSIONS</a:t>
            </a:r>
          </a:p>
        </p:txBody>
      </p:sp>
      <p:sp>
        <p:nvSpPr>
          <p:cNvPr id="242" name="Text 2"/>
          <p:cNvSpPr txBox="1"/>
          <p:nvPr/>
        </p:nvSpPr>
        <p:spPr>
          <a:xfrm>
            <a:off x="594359" y="603504"/>
            <a:ext cx="10972801" cy="512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400" b="1">
                <a:solidFill>
                  <a:srgbClr val="1B1C1E"/>
                </a:solidFill>
              </a:defRPr>
            </a:lvl1pPr>
          </a:lstStyle>
          <a:p>
            <a:r>
              <a:t>Évolution v1 à v5 : ce qui change</a:t>
            </a:r>
          </a:p>
        </p:txBody>
      </p:sp>
      <p:sp>
        <p:nvSpPr>
          <p:cNvPr id="243" name="Shape 3"/>
          <p:cNvSpPr/>
          <p:nvPr/>
        </p:nvSpPr>
        <p:spPr>
          <a:xfrm>
            <a:off x="502919" y="6345935"/>
            <a:ext cx="11201402" cy="1"/>
          </a:xfrm>
          <a:prstGeom prst="line">
            <a:avLst/>
          </a:prstGeom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4" name="Text 4"/>
          <p:cNvSpPr txBox="1"/>
          <p:nvPr/>
        </p:nvSpPr>
        <p:spPr>
          <a:xfrm>
            <a:off x="502919" y="6474460"/>
            <a:ext cx="4937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67625B"/>
                </a:solidFill>
              </a:defRPr>
            </a:lvl1pPr>
          </a:lstStyle>
          <a:p>
            <a:r>
              <a:t>GraphBench - Présentation algorithme</a:t>
            </a:r>
          </a:p>
        </p:txBody>
      </p:sp>
      <p:sp>
        <p:nvSpPr>
          <p:cNvPr id="245" name="Shape 5"/>
          <p:cNvSpPr/>
          <p:nvPr/>
        </p:nvSpPr>
        <p:spPr>
          <a:xfrm>
            <a:off x="731519" y="1234439"/>
            <a:ext cx="10744201" cy="548641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6" name="Shape 6"/>
          <p:cNvSpPr/>
          <p:nvPr/>
        </p:nvSpPr>
        <p:spPr>
          <a:xfrm>
            <a:off x="731519" y="1234439"/>
            <a:ext cx="73153" cy="548641"/>
          </a:xfrm>
          <a:prstGeom prst="rect">
            <a:avLst/>
          </a:prstGeom>
          <a:solidFill>
            <a:srgbClr val="67625B"/>
          </a:solidFill>
          <a:ln w="12700">
            <a:solidFill>
              <a:srgbClr val="67625B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7" name="Text 7"/>
          <p:cNvSpPr txBox="1"/>
          <p:nvPr/>
        </p:nvSpPr>
        <p:spPr>
          <a:xfrm>
            <a:off x="932687" y="1362455"/>
            <a:ext cx="10415018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200" b="1">
                <a:solidFill>
                  <a:srgbClr val="1B1C1E"/>
                </a:solidFill>
              </a:defRPr>
            </a:lvl1pPr>
          </a:lstStyle>
          <a:p>
            <a:r>
              <a:t>v1 - Génération aléatoire par classe</a:t>
            </a:r>
          </a:p>
        </p:txBody>
      </p:sp>
      <p:sp>
        <p:nvSpPr>
          <p:cNvPr id="248" name="Text 8"/>
          <p:cNvSpPr txBox="1"/>
          <p:nvPr/>
        </p:nvSpPr>
        <p:spPr>
          <a:xfrm>
            <a:off x="932687" y="1691639"/>
            <a:ext cx="10396730" cy="1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86968">
              <a:lnSpc>
                <a:spcPct val="80000"/>
              </a:lnSpc>
              <a:defRPr sz="194">
                <a:solidFill>
                  <a:srgbClr val="67625B"/>
                </a:solidFill>
              </a:defRPr>
            </a:lvl1pPr>
          </a:lstStyle>
          <a:p>
            <a:r>
              <a:t>Valider le pipeline complet</a:t>
            </a:r>
          </a:p>
        </p:txBody>
      </p:sp>
      <p:sp>
        <p:nvSpPr>
          <p:cNvPr id="249" name="Shape 9"/>
          <p:cNvSpPr/>
          <p:nvPr/>
        </p:nvSpPr>
        <p:spPr>
          <a:xfrm>
            <a:off x="731519" y="2011679"/>
            <a:ext cx="10744201" cy="548641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0" name="Shape 10"/>
          <p:cNvSpPr/>
          <p:nvPr/>
        </p:nvSpPr>
        <p:spPr>
          <a:xfrm>
            <a:off x="731519" y="2011679"/>
            <a:ext cx="73153" cy="548641"/>
          </a:xfrm>
          <a:prstGeom prst="rect">
            <a:avLst/>
          </a:prstGeom>
          <a:solidFill>
            <a:srgbClr val="216E6B"/>
          </a:solidFill>
          <a:ln w="12700">
            <a:solidFill>
              <a:srgbClr val="216E6B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1" name="Text 11"/>
          <p:cNvSpPr txBox="1"/>
          <p:nvPr/>
        </p:nvSpPr>
        <p:spPr>
          <a:xfrm>
            <a:off x="932687" y="2139695"/>
            <a:ext cx="10415018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200" b="1">
                <a:solidFill>
                  <a:srgbClr val="1B1C1E"/>
                </a:solidFill>
              </a:defRPr>
            </a:lvl1pPr>
          </a:lstStyle>
          <a:p>
            <a:r>
              <a:t>v2 - Ajout de chemins, cycles, cliques, araignées</a:t>
            </a:r>
          </a:p>
        </p:txBody>
      </p:sp>
      <p:sp>
        <p:nvSpPr>
          <p:cNvPr id="252" name="Text 12"/>
          <p:cNvSpPr txBox="1"/>
          <p:nvPr/>
        </p:nvSpPr>
        <p:spPr>
          <a:xfrm>
            <a:off x="932687" y="2468879"/>
            <a:ext cx="10396730" cy="1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86968">
              <a:lnSpc>
                <a:spcPct val="80000"/>
              </a:lnSpc>
              <a:defRPr sz="194">
                <a:solidFill>
                  <a:srgbClr val="67625B"/>
                </a:solidFill>
              </a:defRPr>
            </a:lvl1pPr>
          </a:lstStyle>
          <a:p>
            <a:r>
              <a:t>Démarrer près de familles simples</a:t>
            </a:r>
          </a:p>
        </p:txBody>
      </p:sp>
      <p:sp>
        <p:nvSpPr>
          <p:cNvPr id="253" name="Shape 13"/>
          <p:cNvSpPr/>
          <p:nvPr/>
        </p:nvSpPr>
        <p:spPr>
          <a:xfrm>
            <a:off x="731519" y="2788920"/>
            <a:ext cx="10744201" cy="548641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4" name="Shape 14"/>
          <p:cNvSpPr/>
          <p:nvPr/>
        </p:nvSpPr>
        <p:spPr>
          <a:xfrm>
            <a:off x="731519" y="2788920"/>
            <a:ext cx="73153" cy="548641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5" name="Text 15"/>
          <p:cNvSpPr txBox="1"/>
          <p:nvPr/>
        </p:nvSpPr>
        <p:spPr>
          <a:xfrm>
            <a:off x="932687" y="2916935"/>
            <a:ext cx="10415018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200" b="1">
                <a:solidFill>
                  <a:srgbClr val="1B1C1E"/>
                </a:solidFill>
              </a:defRPr>
            </a:lvl1pPr>
          </a:lstStyle>
          <a:p>
            <a:r>
              <a:t>v3 - Ajout de familles spécialisées</a:t>
            </a:r>
          </a:p>
        </p:txBody>
      </p:sp>
      <p:sp>
        <p:nvSpPr>
          <p:cNvPr id="256" name="Text 16"/>
          <p:cNvSpPr txBox="1"/>
          <p:nvPr/>
        </p:nvSpPr>
        <p:spPr>
          <a:xfrm>
            <a:off x="932687" y="3246120"/>
            <a:ext cx="10396730" cy="1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86968">
              <a:lnSpc>
                <a:spcPct val="80000"/>
              </a:lnSpc>
              <a:defRPr sz="194">
                <a:solidFill>
                  <a:srgbClr val="67625B"/>
                </a:solidFill>
              </a:defRPr>
            </a:lvl1pPr>
          </a:lstStyle>
          <a:p>
            <a:r>
              <a:t>Cibler domination, densité, distance, spectral</a:t>
            </a:r>
          </a:p>
        </p:txBody>
      </p:sp>
      <p:sp>
        <p:nvSpPr>
          <p:cNvPr id="257" name="Shape 17"/>
          <p:cNvSpPr/>
          <p:nvPr/>
        </p:nvSpPr>
        <p:spPr>
          <a:xfrm>
            <a:off x="731519" y="3566159"/>
            <a:ext cx="10744201" cy="548641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8" name="Shape 18"/>
          <p:cNvSpPr/>
          <p:nvPr/>
        </p:nvSpPr>
        <p:spPr>
          <a:xfrm>
            <a:off x="731519" y="3566159"/>
            <a:ext cx="73153" cy="548641"/>
          </a:xfrm>
          <a:prstGeom prst="rect">
            <a:avLst/>
          </a:prstGeom>
          <a:solidFill>
            <a:srgbClr val="6B8E4E"/>
          </a:solidFill>
          <a:ln w="12700">
            <a:solidFill>
              <a:srgbClr val="6B8E4E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9" name="Text 19"/>
          <p:cNvSpPr txBox="1"/>
          <p:nvPr/>
        </p:nvSpPr>
        <p:spPr>
          <a:xfrm>
            <a:off x="932687" y="3694176"/>
            <a:ext cx="10415018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200" b="1">
                <a:solidFill>
                  <a:srgbClr val="1B1C1E"/>
                </a:solidFill>
              </a:defRPr>
            </a:lvl1pPr>
          </a:lstStyle>
          <a:p>
            <a:r>
              <a:t>v4 - Chemins branchés + queues triangulaires</a:t>
            </a:r>
          </a:p>
        </p:txBody>
      </p:sp>
      <p:sp>
        <p:nvSpPr>
          <p:cNvPr id="260" name="Text 20"/>
          <p:cNvSpPr txBox="1"/>
          <p:nvPr/>
        </p:nvSpPr>
        <p:spPr>
          <a:xfrm>
            <a:off x="932687" y="4023359"/>
            <a:ext cx="10396730" cy="1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86968">
              <a:lnSpc>
                <a:spcPct val="80000"/>
              </a:lnSpc>
              <a:defRPr sz="194">
                <a:solidFill>
                  <a:srgbClr val="67625B"/>
                </a:solidFill>
              </a:defRPr>
            </a:lvl1pPr>
          </a:lstStyle>
          <a:p>
            <a:r>
              <a:t>Stabiliser le 100/100</a:t>
            </a:r>
          </a:p>
        </p:txBody>
      </p:sp>
      <p:sp>
        <p:nvSpPr>
          <p:cNvPr id="261" name="Shape 21"/>
          <p:cNvSpPr/>
          <p:nvPr/>
        </p:nvSpPr>
        <p:spPr>
          <a:xfrm>
            <a:off x="731519" y="4343400"/>
            <a:ext cx="10744201" cy="548641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2" name="Shape 22"/>
          <p:cNvSpPr/>
          <p:nvPr/>
        </p:nvSpPr>
        <p:spPr>
          <a:xfrm>
            <a:off x="731519" y="4343399"/>
            <a:ext cx="73153" cy="548642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3" name="Text 23"/>
          <p:cNvSpPr txBox="1"/>
          <p:nvPr/>
        </p:nvSpPr>
        <p:spPr>
          <a:xfrm>
            <a:off x="932687" y="4471415"/>
            <a:ext cx="10415018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200" b="1">
                <a:solidFill>
                  <a:srgbClr val="1B1C1E"/>
                </a:solidFill>
              </a:defRPr>
            </a:lvl1pPr>
          </a:lstStyle>
          <a:p>
            <a:r>
              <a:t>v5 - Population 30/60/120</a:t>
            </a:r>
          </a:p>
        </p:txBody>
      </p:sp>
      <p:sp>
        <p:nvSpPr>
          <p:cNvPr id="264" name="Text 24"/>
          <p:cNvSpPr txBox="1"/>
          <p:nvPr/>
        </p:nvSpPr>
        <p:spPr>
          <a:xfrm>
            <a:off x="932687" y="4800600"/>
            <a:ext cx="10396730" cy="12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86968">
              <a:lnSpc>
                <a:spcPct val="80000"/>
              </a:lnSpc>
              <a:defRPr sz="194">
                <a:solidFill>
                  <a:srgbClr val="67625B"/>
                </a:solidFill>
              </a:defRPr>
            </a:lvl1pPr>
          </a:lstStyle>
          <a:p>
            <a:r>
              <a:t>Réduire le temps sans perdre la validation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Text 0"/>
          <p:cNvSpPr txBox="1"/>
          <p:nvPr/>
        </p:nvSpPr>
        <p:spPr>
          <a:xfrm>
            <a:off x="594359" y="398272"/>
            <a:ext cx="53035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216E6B"/>
                </a:solidFill>
              </a:defRPr>
            </a:lvl1pPr>
          </a:lstStyle>
          <a:p>
            <a:r>
              <a:t>PREMIÈRE VERSION</a:t>
            </a:r>
          </a:p>
        </p:txBody>
      </p:sp>
      <p:sp>
        <p:nvSpPr>
          <p:cNvPr id="267" name="Text 1"/>
          <p:cNvSpPr txBox="1"/>
          <p:nvPr/>
        </p:nvSpPr>
        <p:spPr>
          <a:xfrm>
            <a:off x="594359" y="621791"/>
            <a:ext cx="1078992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500" b="1">
                <a:solidFill>
                  <a:srgbClr val="1B1C1E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r>
              <a:t>v1 : baseline aléatoire</a:t>
            </a:r>
          </a:p>
        </p:txBody>
      </p:sp>
      <p:sp>
        <p:nvSpPr>
          <p:cNvPr id="268" name="Shape 2"/>
          <p:cNvSpPr/>
          <p:nvPr/>
        </p:nvSpPr>
        <p:spPr>
          <a:xfrm>
            <a:off x="721010" y="2132023"/>
            <a:ext cx="3246121" cy="2011681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9" name="Shape 3"/>
          <p:cNvSpPr/>
          <p:nvPr/>
        </p:nvSpPr>
        <p:spPr>
          <a:xfrm>
            <a:off x="721010" y="2132023"/>
            <a:ext cx="73153" cy="2011680"/>
          </a:xfrm>
          <a:prstGeom prst="rect">
            <a:avLst/>
          </a:prstGeom>
          <a:solidFill>
            <a:srgbClr val="6E6A63"/>
          </a:solidFill>
          <a:ln w="12700">
            <a:solidFill>
              <a:srgbClr val="6E6A63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0" name="Text 4"/>
          <p:cNvSpPr txBox="1"/>
          <p:nvPr/>
        </p:nvSpPr>
        <p:spPr>
          <a:xfrm>
            <a:off x="949609" y="2296616"/>
            <a:ext cx="2834641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 b="1">
                <a:solidFill>
                  <a:srgbClr val="1B1C1E"/>
                </a:solidFill>
              </a:defRPr>
            </a:lvl1pPr>
          </a:lstStyle>
          <a:p>
            <a:r>
              <a:t>Ce que faisait v1</a:t>
            </a:r>
          </a:p>
        </p:txBody>
      </p:sp>
      <p:sp>
        <p:nvSpPr>
          <p:cNvPr id="271" name="Text 5"/>
          <p:cNvSpPr txBox="1"/>
          <p:nvPr/>
        </p:nvSpPr>
        <p:spPr>
          <a:xfrm>
            <a:off x="949609" y="2662376"/>
            <a:ext cx="2834641" cy="1481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E6A63"/>
                </a:solidFill>
              </a:defRPr>
            </a:lvl1pPr>
          </a:lstStyle>
          <a:p>
            <a:r>
              <a:t>Générer des graphes selon la classe demandée, puis réparer si les contraintes n’étaient pas respectées.</a:t>
            </a:r>
          </a:p>
        </p:txBody>
      </p:sp>
      <p:sp>
        <p:nvSpPr>
          <p:cNvPr id="272" name="Shape 6"/>
          <p:cNvSpPr/>
          <p:nvPr/>
        </p:nvSpPr>
        <p:spPr>
          <a:xfrm>
            <a:off x="4470050" y="2132023"/>
            <a:ext cx="3246121" cy="2011681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3" name="Shape 7"/>
          <p:cNvSpPr/>
          <p:nvPr/>
        </p:nvSpPr>
        <p:spPr>
          <a:xfrm>
            <a:off x="4470050" y="2132023"/>
            <a:ext cx="73153" cy="2011680"/>
          </a:xfrm>
          <a:prstGeom prst="rect">
            <a:avLst/>
          </a:prstGeom>
          <a:solidFill>
            <a:srgbClr val="6E6A63"/>
          </a:solidFill>
          <a:ln w="12700">
            <a:solidFill>
              <a:srgbClr val="6E6A63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4" name="Text 8"/>
          <p:cNvSpPr txBox="1"/>
          <p:nvPr/>
        </p:nvSpPr>
        <p:spPr>
          <a:xfrm>
            <a:off x="4698650" y="2296616"/>
            <a:ext cx="2834641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 b="1">
                <a:solidFill>
                  <a:srgbClr val="1B1C1E"/>
                </a:solidFill>
              </a:defRPr>
            </a:lvl1pPr>
          </a:lstStyle>
          <a:p>
            <a:r>
              <a:t>Ce que ça validait</a:t>
            </a:r>
          </a:p>
        </p:txBody>
      </p:sp>
      <p:sp>
        <p:nvSpPr>
          <p:cNvPr id="275" name="Text 9"/>
          <p:cNvSpPr txBox="1"/>
          <p:nvPr/>
        </p:nvSpPr>
        <p:spPr>
          <a:xfrm>
            <a:off x="4698650" y="2662376"/>
            <a:ext cx="2834641" cy="1481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E6A63"/>
                </a:solidFill>
              </a:defRPr>
            </a:lvl1pPr>
          </a:lstStyle>
          <a:p>
            <a:r>
              <a:t>Le chargement du benchmark, le calcul des invariants, la formule de violation et la sortie graph6.</a:t>
            </a:r>
          </a:p>
        </p:txBody>
      </p:sp>
      <p:sp>
        <p:nvSpPr>
          <p:cNvPr id="276" name="Shape 10"/>
          <p:cNvSpPr/>
          <p:nvPr/>
        </p:nvSpPr>
        <p:spPr>
          <a:xfrm>
            <a:off x="8219089" y="2132023"/>
            <a:ext cx="3246121" cy="2011681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7" name="Shape 11"/>
          <p:cNvSpPr/>
          <p:nvPr/>
        </p:nvSpPr>
        <p:spPr>
          <a:xfrm>
            <a:off x="8219089" y="2132023"/>
            <a:ext cx="73153" cy="2011680"/>
          </a:xfrm>
          <a:prstGeom prst="rect">
            <a:avLst/>
          </a:prstGeom>
          <a:solidFill>
            <a:srgbClr val="6E6A63"/>
          </a:solidFill>
          <a:ln w="12700">
            <a:solidFill>
              <a:srgbClr val="6E6A63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8" name="Text 12"/>
          <p:cNvSpPr txBox="1"/>
          <p:nvPr/>
        </p:nvSpPr>
        <p:spPr>
          <a:xfrm>
            <a:off x="8447689" y="2296616"/>
            <a:ext cx="2834641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 b="1">
                <a:solidFill>
                  <a:srgbClr val="1B1C1E"/>
                </a:solidFill>
              </a:defRPr>
            </a:lvl1pPr>
          </a:lstStyle>
          <a:p>
            <a:r>
              <a:t>Limite</a:t>
            </a:r>
          </a:p>
        </p:txBody>
      </p:sp>
      <p:sp>
        <p:nvSpPr>
          <p:cNvPr id="279" name="Text 13"/>
          <p:cNvSpPr txBox="1"/>
          <p:nvPr/>
        </p:nvSpPr>
        <p:spPr>
          <a:xfrm>
            <a:off x="8447689" y="2662376"/>
            <a:ext cx="2834641" cy="1481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E6A63"/>
                </a:solidFill>
              </a:defRPr>
            </a:lvl1pPr>
          </a:lstStyle>
          <a:p>
            <a:r>
              <a:t>Exploration trop dépendante du hasard : les structures extrémales rares apparaissent difficilement.</a:t>
            </a:r>
          </a:p>
        </p:txBody>
      </p:sp>
      <p:sp>
        <p:nvSpPr>
          <p:cNvPr id="280" name="Text 14"/>
          <p:cNvSpPr txBox="1"/>
          <p:nvPr/>
        </p:nvSpPr>
        <p:spPr>
          <a:xfrm>
            <a:off x="914399" y="5396230"/>
            <a:ext cx="1033272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100" b="1">
                <a:solidFill>
                  <a:srgbClr val="6E6A63"/>
                </a:solidFill>
              </a:defRPr>
            </a:lvl1pPr>
          </a:lstStyle>
          <a:p>
            <a:r>
              <a:t>Rôle de v1 : construire une base fiable, pas encore optimiser le score.</a:t>
            </a:r>
          </a:p>
        </p:txBody>
      </p:sp>
      <p:sp>
        <p:nvSpPr>
          <p:cNvPr id="281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217151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10</a:t>
            </a:fld>
            <a:endParaRPr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ext 0"/>
          <p:cNvSpPr txBox="1"/>
          <p:nvPr/>
        </p:nvSpPr>
        <p:spPr>
          <a:xfrm>
            <a:off x="594359" y="398272"/>
            <a:ext cx="53035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216E6B"/>
                </a:solidFill>
              </a:defRPr>
            </a:lvl1pPr>
          </a:lstStyle>
          <a:p>
            <a:r>
              <a:t>POPULATION INITIALE</a:t>
            </a:r>
          </a:p>
        </p:txBody>
      </p:sp>
      <p:sp>
        <p:nvSpPr>
          <p:cNvPr id="284" name="Text 1"/>
          <p:cNvSpPr txBox="1"/>
          <p:nvPr/>
        </p:nvSpPr>
        <p:spPr>
          <a:xfrm>
            <a:off x="594359" y="621791"/>
            <a:ext cx="1078992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500" b="1">
                <a:solidFill>
                  <a:srgbClr val="1B1C1E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r>
              <a:t>v2 : premières graines structurelles</a:t>
            </a:r>
          </a:p>
        </p:txBody>
      </p:sp>
      <p:sp>
        <p:nvSpPr>
          <p:cNvPr id="285" name="Shape 2"/>
          <p:cNvSpPr/>
          <p:nvPr/>
        </p:nvSpPr>
        <p:spPr>
          <a:xfrm>
            <a:off x="731519" y="1325880"/>
            <a:ext cx="5074922" cy="1170433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6" name="Shape 3"/>
          <p:cNvSpPr/>
          <p:nvPr/>
        </p:nvSpPr>
        <p:spPr>
          <a:xfrm>
            <a:off x="731519" y="1325879"/>
            <a:ext cx="73153" cy="1170434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7" name="Text 4"/>
          <p:cNvSpPr txBox="1"/>
          <p:nvPr/>
        </p:nvSpPr>
        <p:spPr>
          <a:xfrm>
            <a:off x="960119" y="1490472"/>
            <a:ext cx="4663442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 b="1">
                <a:solidFill>
                  <a:srgbClr val="1B1C1E"/>
                </a:solidFill>
              </a:defRPr>
            </a:lvl1pPr>
          </a:lstStyle>
          <a:p>
            <a:r>
              <a:t>Chemins</a:t>
            </a:r>
          </a:p>
        </p:txBody>
      </p:sp>
      <p:sp>
        <p:nvSpPr>
          <p:cNvPr id="288" name="Text 5"/>
          <p:cNvSpPr txBox="1"/>
          <p:nvPr/>
        </p:nvSpPr>
        <p:spPr>
          <a:xfrm>
            <a:off x="960119" y="1856232"/>
            <a:ext cx="4663442" cy="484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E6A63"/>
                </a:solidFill>
              </a:defRPr>
            </a:lvl1pPr>
          </a:lstStyle>
          <a:p>
            <a:r>
              <a:t>Distances, diamètre, rayon</a:t>
            </a:r>
          </a:p>
        </p:txBody>
      </p:sp>
      <p:sp>
        <p:nvSpPr>
          <p:cNvPr id="289" name="Shape 6"/>
          <p:cNvSpPr/>
          <p:nvPr/>
        </p:nvSpPr>
        <p:spPr>
          <a:xfrm>
            <a:off x="6309359" y="1325880"/>
            <a:ext cx="5074921" cy="1170433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0" name="Shape 7"/>
          <p:cNvSpPr/>
          <p:nvPr/>
        </p:nvSpPr>
        <p:spPr>
          <a:xfrm>
            <a:off x="6309359" y="1325879"/>
            <a:ext cx="73153" cy="1170434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1" name="Text 8"/>
          <p:cNvSpPr txBox="1"/>
          <p:nvPr/>
        </p:nvSpPr>
        <p:spPr>
          <a:xfrm>
            <a:off x="6537959" y="1490472"/>
            <a:ext cx="4663441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 b="1">
                <a:solidFill>
                  <a:srgbClr val="1B1C1E"/>
                </a:solidFill>
              </a:defRPr>
            </a:lvl1pPr>
          </a:lstStyle>
          <a:p>
            <a:r>
              <a:t>Cycles</a:t>
            </a:r>
          </a:p>
        </p:txBody>
      </p:sp>
      <p:sp>
        <p:nvSpPr>
          <p:cNvPr id="292" name="Text 9"/>
          <p:cNvSpPr txBox="1"/>
          <p:nvPr/>
        </p:nvSpPr>
        <p:spPr>
          <a:xfrm>
            <a:off x="6537959" y="1856232"/>
            <a:ext cx="4663441" cy="484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E6A63"/>
                </a:solidFill>
              </a:defRPr>
            </a:lvl1pPr>
          </a:lstStyle>
          <a:p>
            <a:r>
              <a:t>Formes régulières simples</a:t>
            </a:r>
          </a:p>
        </p:txBody>
      </p:sp>
      <p:sp>
        <p:nvSpPr>
          <p:cNvPr id="293" name="Shape 10"/>
          <p:cNvSpPr/>
          <p:nvPr/>
        </p:nvSpPr>
        <p:spPr>
          <a:xfrm>
            <a:off x="731519" y="2926079"/>
            <a:ext cx="5074922" cy="1170433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4" name="Shape 11"/>
          <p:cNvSpPr/>
          <p:nvPr/>
        </p:nvSpPr>
        <p:spPr>
          <a:xfrm>
            <a:off x="731519" y="2926079"/>
            <a:ext cx="73153" cy="1170433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5" name="Text 12"/>
          <p:cNvSpPr txBox="1"/>
          <p:nvPr/>
        </p:nvSpPr>
        <p:spPr>
          <a:xfrm>
            <a:off x="960119" y="3090672"/>
            <a:ext cx="4663442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 b="1">
                <a:solidFill>
                  <a:srgbClr val="1B1C1E"/>
                </a:solidFill>
              </a:defRPr>
            </a:lvl1pPr>
          </a:lstStyle>
          <a:p>
            <a:r>
              <a:t>Cliques</a:t>
            </a:r>
          </a:p>
        </p:txBody>
      </p:sp>
      <p:sp>
        <p:nvSpPr>
          <p:cNvPr id="296" name="Text 13"/>
          <p:cNvSpPr txBox="1"/>
          <p:nvPr/>
        </p:nvSpPr>
        <p:spPr>
          <a:xfrm>
            <a:off x="960119" y="3456432"/>
            <a:ext cx="4663442" cy="484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E6A63"/>
                </a:solidFill>
              </a:defRPr>
            </a:lvl1pPr>
          </a:lstStyle>
          <a:p>
            <a:r>
              <a:t>Densité, degré moyen, clique number</a:t>
            </a:r>
          </a:p>
        </p:txBody>
      </p:sp>
      <p:sp>
        <p:nvSpPr>
          <p:cNvPr id="297" name="Shape 14"/>
          <p:cNvSpPr/>
          <p:nvPr/>
        </p:nvSpPr>
        <p:spPr>
          <a:xfrm>
            <a:off x="6309359" y="2926079"/>
            <a:ext cx="5074921" cy="1170433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8" name="Shape 15"/>
          <p:cNvSpPr/>
          <p:nvPr/>
        </p:nvSpPr>
        <p:spPr>
          <a:xfrm>
            <a:off x="6309359" y="2926079"/>
            <a:ext cx="73153" cy="1170433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9" name="Text 16"/>
          <p:cNvSpPr txBox="1"/>
          <p:nvPr/>
        </p:nvSpPr>
        <p:spPr>
          <a:xfrm>
            <a:off x="6537959" y="3090672"/>
            <a:ext cx="4663441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 b="1">
                <a:solidFill>
                  <a:srgbClr val="1B1C1E"/>
                </a:solidFill>
              </a:defRPr>
            </a:lvl1pPr>
          </a:lstStyle>
          <a:p>
            <a:r>
              <a:t>Araignées</a:t>
            </a:r>
          </a:p>
        </p:txBody>
      </p:sp>
      <p:sp>
        <p:nvSpPr>
          <p:cNvPr id="300" name="Text 17"/>
          <p:cNvSpPr txBox="1"/>
          <p:nvPr/>
        </p:nvSpPr>
        <p:spPr>
          <a:xfrm>
            <a:off x="6537959" y="3456432"/>
            <a:ext cx="4663441" cy="484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E6A63"/>
                </a:solidFill>
              </a:defRPr>
            </a:lvl1pPr>
          </a:lstStyle>
          <a:p>
            <a:r>
              <a:t>Domination totale vs couplage</a:t>
            </a:r>
          </a:p>
        </p:txBody>
      </p:sp>
      <p:sp>
        <p:nvSpPr>
          <p:cNvPr id="301" name="Text 18"/>
          <p:cNvSpPr txBox="1"/>
          <p:nvPr/>
        </p:nvSpPr>
        <p:spPr>
          <a:xfrm>
            <a:off x="1005839" y="4973320"/>
            <a:ext cx="10058401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200" b="1">
                <a:solidFill>
                  <a:srgbClr val="3D5A80"/>
                </a:solidFill>
              </a:defRPr>
            </a:lvl1pPr>
          </a:lstStyle>
          <a:p>
            <a:r>
              <a:t>Changement d’idée : on ne laisse plus le hasard découvrir seul les bonnes familles.</a:t>
            </a:r>
          </a:p>
        </p:txBody>
      </p:sp>
      <p:sp>
        <p:nvSpPr>
          <p:cNvPr id="302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209660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11</a:t>
            </a:fld>
            <a:endParaRPr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 0"/>
          <p:cNvSpPr txBox="1"/>
          <p:nvPr/>
        </p:nvSpPr>
        <p:spPr>
          <a:xfrm>
            <a:off x="594359" y="398272"/>
            <a:ext cx="53035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216E6B"/>
                </a:solidFill>
              </a:defRPr>
            </a:lvl1pPr>
          </a:lstStyle>
          <a:p>
            <a:r>
              <a:t>CIBLAGE DES INVARIANTS</a:t>
            </a:r>
          </a:p>
        </p:txBody>
      </p:sp>
      <p:sp>
        <p:nvSpPr>
          <p:cNvPr id="305" name="Text 1"/>
          <p:cNvSpPr txBox="1"/>
          <p:nvPr/>
        </p:nvSpPr>
        <p:spPr>
          <a:xfrm>
            <a:off x="594359" y="621791"/>
            <a:ext cx="1078992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500" b="1">
                <a:solidFill>
                  <a:srgbClr val="1B1C1E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r>
              <a:t>v3 : familles plus spécialisées</a:t>
            </a:r>
          </a:p>
        </p:txBody>
      </p:sp>
      <p:sp>
        <p:nvSpPr>
          <p:cNvPr id="306" name="Shape 2"/>
          <p:cNvSpPr/>
          <p:nvPr/>
        </p:nvSpPr>
        <p:spPr>
          <a:xfrm>
            <a:off x="685800" y="1298447"/>
            <a:ext cx="3383280" cy="1078993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7" name="Shape 3"/>
          <p:cNvSpPr/>
          <p:nvPr/>
        </p:nvSpPr>
        <p:spPr>
          <a:xfrm>
            <a:off x="685799" y="1298447"/>
            <a:ext cx="73154" cy="1078993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8" name="Text 4"/>
          <p:cNvSpPr txBox="1"/>
          <p:nvPr/>
        </p:nvSpPr>
        <p:spPr>
          <a:xfrm>
            <a:off x="914400" y="1463039"/>
            <a:ext cx="2971800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 b="1">
                <a:solidFill>
                  <a:srgbClr val="1B1C1E"/>
                </a:solidFill>
              </a:defRPr>
            </a:lvl1pPr>
          </a:lstStyle>
          <a:p>
            <a:r>
              <a:t>Doubles étoiles</a:t>
            </a:r>
          </a:p>
        </p:txBody>
      </p:sp>
      <p:sp>
        <p:nvSpPr>
          <p:cNvPr id="309" name="Text 5"/>
          <p:cNvSpPr txBox="1"/>
          <p:nvPr/>
        </p:nvSpPr>
        <p:spPr>
          <a:xfrm>
            <a:off x="914400" y="1828799"/>
            <a:ext cx="2971800" cy="393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E6A63"/>
                </a:solidFill>
              </a:defRPr>
            </a:lvl1pPr>
          </a:lstStyle>
          <a:p>
            <a:r>
              <a:t>domination, couverture</a:t>
            </a:r>
          </a:p>
        </p:txBody>
      </p:sp>
      <p:sp>
        <p:nvSpPr>
          <p:cNvPr id="310" name="Shape 6"/>
          <p:cNvSpPr/>
          <p:nvPr/>
        </p:nvSpPr>
        <p:spPr>
          <a:xfrm>
            <a:off x="4453128" y="1298447"/>
            <a:ext cx="3383281" cy="1078993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1" name="Shape 7"/>
          <p:cNvSpPr/>
          <p:nvPr/>
        </p:nvSpPr>
        <p:spPr>
          <a:xfrm>
            <a:off x="4453128" y="1298447"/>
            <a:ext cx="73153" cy="1078993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2" name="Text 8"/>
          <p:cNvSpPr txBox="1"/>
          <p:nvPr/>
        </p:nvSpPr>
        <p:spPr>
          <a:xfrm>
            <a:off x="4681728" y="1463039"/>
            <a:ext cx="2971801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 b="1">
                <a:solidFill>
                  <a:srgbClr val="1B1C1E"/>
                </a:solidFill>
              </a:defRPr>
            </a:lvl1pPr>
          </a:lstStyle>
          <a:p>
            <a:r>
              <a:t>Cliques endommagées</a:t>
            </a:r>
          </a:p>
        </p:txBody>
      </p:sp>
      <p:sp>
        <p:nvSpPr>
          <p:cNvPr id="313" name="Text 9"/>
          <p:cNvSpPr txBox="1"/>
          <p:nvPr/>
        </p:nvSpPr>
        <p:spPr>
          <a:xfrm>
            <a:off x="4681728" y="1828799"/>
            <a:ext cx="2971801" cy="393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E6A63"/>
                </a:solidFill>
              </a:defRPr>
            </a:lvl1pPr>
          </a:lstStyle>
          <a:p>
            <a:r>
              <a:t>densité, degré max, triangles</a:t>
            </a:r>
          </a:p>
        </p:txBody>
      </p:sp>
      <p:sp>
        <p:nvSpPr>
          <p:cNvPr id="314" name="Shape 10"/>
          <p:cNvSpPr/>
          <p:nvPr/>
        </p:nvSpPr>
        <p:spPr>
          <a:xfrm>
            <a:off x="8220456" y="1298447"/>
            <a:ext cx="3383281" cy="1078993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5" name="Shape 11"/>
          <p:cNvSpPr/>
          <p:nvPr/>
        </p:nvSpPr>
        <p:spPr>
          <a:xfrm>
            <a:off x="8220456" y="1298447"/>
            <a:ext cx="73153" cy="1078993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6" name="Text 12"/>
          <p:cNvSpPr txBox="1"/>
          <p:nvPr/>
        </p:nvSpPr>
        <p:spPr>
          <a:xfrm>
            <a:off x="8449056" y="1463039"/>
            <a:ext cx="2971801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 b="1">
                <a:solidFill>
                  <a:srgbClr val="1B1C1E"/>
                </a:solidFill>
              </a:defRPr>
            </a:lvl1pPr>
          </a:lstStyle>
          <a:p>
            <a:r>
              <a:t>Graphes clairsemés</a:t>
            </a:r>
          </a:p>
        </p:txBody>
      </p:sp>
      <p:sp>
        <p:nvSpPr>
          <p:cNvPr id="317" name="Text 13"/>
          <p:cNvSpPr txBox="1"/>
          <p:nvPr/>
        </p:nvSpPr>
        <p:spPr>
          <a:xfrm>
            <a:off x="8449056" y="1828799"/>
            <a:ext cx="2971801" cy="393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E6A63"/>
                </a:solidFill>
              </a:defRPr>
            </a:lvl1pPr>
          </a:lstStyle>
          <a:p>
            <a:r>
              <a:t>distance, rayon</a:t>
            </a:r>
          </a:p>
        </p:txBody>
      </p:sp>
      <p:sp>
        <p:nvSpPr>
          <p:cNvPr id="318" name="Shape 14"/>
          <p:cNvSpPr/>
          <p:nvPr/>
        </p:nvSpPr>
        <p:spPr>
          <a:xfrm>
            <a:off x="685800" y="2871216"/>
            <a:ext cx="3383280" cy="1078993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9" name="Shape 15"/>
          <p:cNvSpPr/>
          <p:nvPr/>
        </p:nvSpPr>
        <p:spPr>
          <a:xfrm>
            <a:off x="685799" y="2871216"/>
            <a:ext cx="73154" cy="1078993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0" name="Text 16"/>
          <p:cNvSpPr txBox="1"/>
          <p:nvPr/>
        </p:nvSpPr>
        <p:spPr>
          <a:xfrm>
            <a:off x="914400" y="3035807"/>
            <a:ext cx="2971800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 b="1">
                <a:solidFill>
                  <a:srgbClr val="1B1C1E"/>
                </a:solidFill>
              </a:defRPr>
            </a:lvl1pPr>
          </a:lstStyle>
          <a:p>
            <a:r>
              <a:t>Triangles avec chemins</a:t>
            </a:r>
          </a:p>
        </p:txBody>
      </p:sp>
      <p:sp>
        <p:nvSpPr>
          <p:cNvPr id="321" name="Text 17"/>
          <p:cNvSpPr txBox="1"/>
          <p:nvPr/>
        </p:nvSpPr>
        <p:spPr>
          <a:xfrm>
            <a:off x="914400" y="3401567"/>
            <a:ext cx="2971800" cy="393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E6A63"/>
                </a:solidFill>
              </a:defRPr>
            </a:lvl1pPr>
          </a:lstStyle>
          <a:p>
            <a:r>
              <a:t>sans-griffe, distance</a:t>
            </a:r>
          </a:p>
        </p:txBody>
      </p:sp>
      <p:sp>
        <p:nvSpPr>
          <p:cNvPr id="322" name="Shape 18"/>
          <p:cNvSpPr/>
          <p:nvPr/>
        </p:nvSpPr>
        <p:spPr>
          <a:xfrm>
            <a:off x="4453128" y="2871216"/>
            <a:ext cx="3383281" cy="1078993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3" name="Shape 19"/>
          <p:cNvSpPr/>
          <p:nvPr/>
        </p:nvSpPr>
        <p:spPr>
          <a:xfrm>
            <a:off x="4453128" y="2871216"/>
            <a:ext cx="73153" cy="1078993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4" name="Text 20"/>
          <p:cNvSpPr txBox="1"/>
          <p:nvPr/>
        </p:nvSpPr>
        <p:spPr>
          <a:xfrm>
            <a:off x="4681728" y="3035807"/>
            <a:ext cx="2971801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 b="1">
                <a:solidFill>
                  <a:srgbClr val="1B1C1E"/>
                </a:solidFill>
              </a:defRPr>
            </a:lvl1pPr>
          </a:lstStyle>
          <a:p>
            <a:r>
              <a:t>Clique-chemin-clique</a:t>
            </a:r>
          </a:p>
        </p:txBody>
      </p:sp>
      <p:sp>
        <p:nvSpPr>
          <p:cNvPr id="325" name="Text 21"/>
          <p:cNvSpPr txBox="1"/>
          <p:nvPr/>
        </p:nvSpPr>
        <p:spPr>
          <a:xfrm>
            <a:off x="4681728" y="3401567"/>
            <a:ext cx="2971801" cy="393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E6A63"/>
                </a:solidFill>
              </a:defRPr>
            </a:lvl1pPr>
          </a:lstStyle>
          <a:p>
            <a:r>
              <a:t>spectral + goulot de distance</a:t>
            </a:r>
          </a:p>
        </p:txBody>
      </p:sp>
      <p:sp>
        <p:nvSpPr>
          <p:cNvPr id="326" name="Text 22"/>
          <p:cNvSpPr txBox="1"/>
          <p:nvPr/>
        </p:nvSpPr>
        <p:spPr>
          <a:xfrm>
            <a:off x="822959" y="5074920"/>
            <a:ext cx="10607042" cy="506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lnSpc>
                <a:spcPct val="80000"/>
              </a:lnSpc>
              <a:defRPr b="1">
                <a:solidFill>
                  <a:srgbClr val="B85C38"/>
                </a:solidFill>
              </a:defRPr>
            </a:lvl1pPr>
          </a:lstStyle>
          <a:p>
            <a:r>
              <a:t>Ici, la population initiale devient un outil mathématique : chaque famille vise une zone du benchmark.</a:t>
            </a:r>
          </a:p>
        </p:txBody>
      </p:sp>
      <p:sp>
        <p:nvSpPr>
          <p:cNvPr id="327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217151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12</a:t>
            </a:fld>
            <a:endParaRPr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Text 0"/>
          <p:cNvSpPr txBox="1"/>
          <p:nvPr/>
        </p:nvSpPr>
        <p:spPr>
          <a:xfrm>
            <a:off x="594359" y="398272"/>
            <a:ext cx="53035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216E6B"/>
                </a:solidFill>
              </a:defRPr>
            </a:lvl1pPr>
          </a:lstStyle>
          <a:p>
            <a:r>
              <a:t>DERNIERS CAS DIFFICILES</a:t>
            </a:r>
          </a:p>
        </p:txBody>
      </p:sp>
      <p:sp>
        <p:nvSpPr>
          <p:cNvPr id="330" name="Text 1"/>
          <p:cNvSpPr txBox="1"/>
          <p:nvPr/>
        </p:nvSpPr>
        <p:spPr>
          <a:xfrm>
            <a:off x="594359" y="621791"/>
            <a:ext cx="1078992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500" b="1">
                <a:solidFill>
                  <a:srgbClr val="1B1C1E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r>
              <a:t>v4 : stabilisation du 100/100</a:t>
            </a:r>
          </a:p>
        </p:txBody>
      </p:sp>
      <p:sp>
        <p:nvSpPr>
          <p:cNvPr id="331" name="Shape 2"/>
          <p:cNvSpPr/>
          <p:nvPr/>
        </p:nvSpPr>
        <p:spPr>
          <a:xfrm>
            <a:off x="822960" y="1325880"/>
            <a:ext cx="4892041" cy="2057401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2" name="Shape 3"/>
          <p:cNvSpPr/>
          <p:nvPr/>
        </p:nvSpPr>
        <p:spPr>
          <a:xfrm>
            <a:off x="822960" y="1325880"/>
            <a:ext cx="73153" cy="2057401"/>
          </a:xfrm>
          <a:prstGeom prst="rect">
            <a:avLst/>
          </a:prstGeom>
          <a:solidFill>
            <a:srgbClr val="6B8E4E"/>
          </a:solidFill>
          <a:ln w="12700">
            <a:solidFill>
              <a:srgbClr val="6B8E4E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3" name="Text 4"/>
          <p:cNvSpPr txBox="1"/>
          <p:nvPr/>
        </p:nvSpPr>
        <p:spPr>
          <a:xfrm>
            <a:off x="1051560" y="1490472"/>
            <a:ext cx="4480560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 b="1">
                <a:solidFill>
                  <a:srgbClr val="1B1C1E"/>
                </a:solidFill>
              </a:defRPr>
            </a:lvl1pPr>
          </a:lstStyle>
          <a:p>
            <a:r>
              <a:t>Chemins branchés</a:t>
            </a:r>
          </a:p>
        </p:txBody>
      </p:sp>
      <p:sp>
        <p:nvSpPr>
          <p:cNvPr id="334" name="Text 5"/>
          <p:cNvSpPr txBox="1"/>
          <p:nvPr/>
        </p:nvSpPr>
        <p:spPr>
          <a:xfrm>
            <a:off x="1051560" y="1856232"/>
            <a:ext cx="4480560" cy="137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E6A63"/>
                </a:solidFill>
              </a:defRPr>
            </a:lvl1pPr>
          </a:lstStyle>
          <a:p>
            <a:r>
              <a:t>Arbres avec effets forts sur domination indépendante, feuilles et indices de Zagreb.</a:t>
            </a:r>
          </a:p>
        </p:txBody>
      </p:sp>
      <p:sp>
        <p:nvSpPr>
          <p:cNvPr id="335" name="Shape 6"/>
          <p:cNvSpPr/>
          <p:nvPr/>
        </p:nvSpPr>
        <p:spPr>
          <a:xfrm>
            <a:off x="6446520" y="1325880"/>
            <a:ext cx="4892041" cy="2057401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6" name="Shape 7"/>
          <p:cNvSpPr/>
          <p:nvPr/>
        </p:nvSpPr>
        <p:spPr>
          <a:xfrm>
            <a:off x="6446520" y="1325880"/>
            <a:ext cx="73153" cy="2057401"/>
          </a:xfrm>
          <a:prstGeom prst="rect">
            <a:avLst/>
          </a:prstGeom>
          <a:solidFill>
            <a:srgbClr val="6B8E4E"/>
          </a:solidFill>
          <a:ln w="12700">
            <a:solidFill>
              <a:srgbClr val="6B8E4E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7" name="Text 8"/>
          <p:cNvSpPr txBox="1"/>
          <p:nvPr/>
        </p:nvSpPr>
        <p:spPr>
          <a:xfrm>
            <a:off x="6675119" y="1490472"/>
            <a:ext cx="4480561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 b="1">
                <a:solidFill>
                  <a:srgbClr val="1B1C1E"/>
                </a:solidFill>
              </a:defRPr>
            </a:lvl1pPr>
          </a:lstStyle>
          <a:p>
            <a:r>
              <a:t>Queues triangulaires</a:t>
            </a:r>
          </a:p>
        </p:txBody>
      </p:sp>
      <p:sp>
        <p:nvSpPr>
          <p:cNvPr id="338" name="Text 9"/>
          <p:cNvSpPr txBox="1"/>
          <p:nvPr/>
        </p:nvSpPr>
        <p:spPr>
          <a:xfrm>
            <a:off x="6675119" y="1856232"/>
            <a:ext cx="4480561" cy="137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E6A63"/>
                </a:solidFill>
              </a:defRPr>
            </a:lvl1pPr>
          </a:lstStyle>
          <a:p>
            <a:r>
              <a:t>Graphes proches du sans-griffe, utiles pour contrôler distances et effets spectraux.</a:t>
            </a:r>
          </a:p>
        </p:txBody>
      </p:sp>
      <p:sp>
        <p:nvSpPr>
          <p:cNvPr id="339" name="Shape 10"/>
          <p:cNvSpPr/>
          <p:nvPr/>
        </p:nvSpPr>
        <p:spPr>
          <a:xfrm>
            <a:off x="1737360" y="4160520"/>
            <a:ext cx="2331721" cy="1051561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6B8E4E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0" name="Text 11"/>
          <p:cNvSpPr txBox="1"/>
          <p:nvPr/>
        </p:nvSpPr>
        <p:spPr>
          <a:xfrm>
            <a:off x="1874520" y="4325111"/>
            <a:ext cx="2057401" cy="365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2300" b="1">
                <a:solidFill>
                  <a:srgbClr val="6B8E4E"/>
                </a:solidFill>
              </a:defRPr>
            </a:lvl1pPr>
          </a:lstStyle>
          <a:p>
            <a:r>
              <a:t>100/100</a:t>
            </a:r>
          </a:p>
        </p:txBody>
      </p:sp>
      <p:sp>
        <p:nvSpPr>
          <p:cNvPr id="341" name="Text 12"/>
          <p:cNvSpPr txBox="1"/>
          <p:nvPr/>
        </p:nvSpPr>
        <p:spPr>
          <a:xfrm>
            <a:off x="1874520" y="4782311"/>
            <a:ext cx="20574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900" b="1">
                <a:solidFill>
                  <a:srgbClr val="6E6A63"/>
                </a:solidFill>
              </a:defRPr>
            </a:lvl1pPr>
          </a:lstStyle>
          <a:p>
            <a:r>
              <a:t>contre-exemples validés</a:t>
            </a:r>
          </a:p>
        </p:txBody>
      </p:sp>
      <p:sp>
        <p:nvSpPr>
          <p:cNvPr id="342" name="Shape 13"/>
          <p:cNvSpPr/>
          <p:nvPr/>
        </p:nvSpPr>
        <p:spPr>
          <a:xfrm>
            <a:off x="4892040" y="4160520"/>
            <a:ext cx="2331721" cy="1051561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6B8E4E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3" name="Text 14"/>
          <p:cNvSpPr txBox="1"/>
          <p:nvPr/>
        </p:nvSpPr>
        <p:spPr>
          <a:xfrm>
            <a:off x="5029200" y="4325111"/>
            <a:ext cx="2057400" cy="365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2300" b="1">
                <a:solidFill>
                  <a:srgbClr val="6B8E4E"/>
                </a:solidFill>
              </a:defRPr>
            </a:lvl1pPr>
          </a:lstStyle>
          <a:p>
            <a:r>
              <a:t>136.80 s</a:t>
            </a:r>
          </a:p>
        </p:txBody>
      </p:sp>
      <p:sp>
        <p:nvSpPr>
          <p:cNvPr id="344" name="Text 15"/>
          <p:cNvSpPr txBox="1"/>
          <p:nvPr/>
        </p:nvSpPr>
        <p:spPr>
          <a:xfrm>
            <a:off x="5029200" y="4782311"/>
            <a:ext cx="20574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900" b="1">
                <a:solidFill>
                  <a:srgbClr val="6E6A63"/>
                </a:solidFill>
              </a:defRPr>
            </a:lvl1pPr>
          </a:lstStyle>
          <a:p>
            <a:r>
              <a:t>temps total v4</a:t>
            </a:r>
          </a:p>
        </p:txBody>
      </p:sp>
      <p:sp>
        <p:nvSpPr>
          <p:cNvPr id="345" name="Shape 16"/>
          <p:cNvSpPr/>
          <p:nvPr/>
        </p:nvSpPr>
        <p:spPr>
          <a:xfrm>
            <a:off x="8046719" y="4160520"/>
            <a:ext cx="2331721" cy="1051561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6B8E4E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6" name="Text 17"/>
          <p:cNvSpPr txBox="1"/>
          <p:nvPr/>
        </p:nvSpPr>
        <p:spPr>
          <a:xfrm>
            <a:off x="8183880" y="4325111"/>
            <a:ext cx="2057401" cy="365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2300" b="1">
                <a:solidFill>
                  <a:srgbClr val="6B8E4E"/>
                </a:solidFill>
              </a:defRPr>
            </a:lvl1pPr>
          </a:lstStyle>
          <a:p>
            <a:r>
              <a:t>1.368 s</a:t>
            </a:r>
          </a:p>
        </p:txBody>
      </p:sp>
      <p:sp>
        <p:nvSpPr>
          <p:cNvPr id="347" name="Text 18"/>
          <p:cNvSpPr txBox="1"/>
          <p:nvPr/>
        </p:nvSpPr>
        <p:spPr>
          <a:xfrm>
            <a:off x="8183880" y="4782311"/>
            <a:ext cx="20574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900" b="1">
                <a:solidFill>
                  <a:srgbClr val="6E6A63"/>
                </a:solidFill>
              </a:defRPr>
            </a:lvl1pPr>
          </a:lstStyle>
          <a:p>
            <a:r>
              <a:t>temps moyen v4</a:t>
            </a:r>
          </a:p>
        </p:txBody>
      </p:sp>
      <p:sp>
        <p:nvSpPr>
          <p:cNvPr id="348" name="Text 19"/>
          <p:cNvSpPr txBox="1"/>
          <p:nvPr/>
        </p:nvSpPr>
        <p:spPr>
          <a:xfrm>
            <a:off x="914399" y="5649213"/>
            <a:ext cx="10332722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 b="1">
                <a:solidFill>
                  <a:srgbClr val="6B8E4E"/>
                </a:solidFill>
              </a:defRPr>
            </a:lvl1pPr>
          </a:lstStyle>
          <a:p>
            <a:r>
              <a:t>v4 = première version entièrement stable sur les 100 conjectures.</a:t>
            </a:r>
          </a:p>
        </p:txBody>
      </p:sp>
      <p:sp>
        <p:nvSpPr>
          <p:cNvPr id="349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217151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13</a:t>
            </a:fld>
            <a:endParaRPr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Text 0"/>
          <p:cNvSpPr txBox="1"/>
          <p:nvPr/>
        </p:nvSpPr>
        <p:spPr>
          <a:xfrm>
            <a:off x="594359" y="398272"/>
            <a:ext cx="53035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216E6B"/>
                </a:solidFill>
              </a:defRPr>
            </a:lvl1pPr>
          </a:lstStyle>
          <a:p>
            <a:r>
              <a:t>OPTIMISATION FINALE</a:t>
            </a:r>
          </a:p>
        </p:txBody>
      </p:sp>
      <p:sp>
        <p:nvSpPr>
          <p:cNvPr id="352" name="Text 1"/>
          <p:cNvSpPr txBox="1"/>
          <p:nvPr/>
        </p:nvSpPr>
        <p:spPr>
          <a:xfrm>
            <a:off x="594359" y="621791"/>
            <a:ext cx="1078992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500" b="1">
                <a:solidFill>
                  <a:srgbClr val="1B1C1E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r>
              <a:t>v5 : accélération par population adaptative</a:t>
            </a:r>
          </a:p>
        </p:txBody>
      </p:sp>
      <p:sp>
        <p:nvSpPr>
          <p:cNvPr id="353" name="Text 2"/>
          <p:cNvSpPr txBox="1"/>
          <p:nvPr/>
        </p:nvSpPr>
        <p:spPr>
          <a:xfrm>
            <a:off x="822960" y="1325880"/>
            <a:ext cx="10515601" cy="41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lnSpc>
                <a:spcPct val="90000"/>
              </a:lnSpc>
              <a:defRPr sz="1500" b="1">
                <a:solidFill>
                  <a:srgbClr val="1B1C1E"/>
                </a:solidFill>
              </a:defRPr>
            </a:lvl1pPr>
          </a:lstStyle>
          <a:p>
            <a:r>
              <a:t>Constat : une grande population aide certains cas fragiles, mais ralentit inutilement beaucoup de cas simples.</a:t>
            </a:r>
          </a:p>
        </p:txBody>
      </p:sp>
      <p:sp>
        <p:nvSpPr>
          <p:cNvPr id="354" name="Shape 3"/>
          <p:cNvSpPr/>
          <p:nvPr/>
        </p:nvSpPr>
        <p:spPr>
          <a:xfrm>
            <a:off x="1325880" y="2240279"/>
            <a:ext cx="2468880" cy="1051561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49A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5" name="Text 4"/>
          <p:cNvSpPr txBox="1"/>
          <p:nvPr/>
        </p:nvSpPr>
        <p:spPr>
          <a:xfrm>
            <a:off x="1463039" y="2404872"/>
            <a:ext cx="2194561" cy="365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2300" b="1">
                <a:solidFill>
                  <a:srgbClr val="C49A45"/>
                </a:solidFill>
              </a:defRPr>
            </a:lvl1pPr>
          </a:lstStyle>
          <a:p>
            <a:r>
              <a:t>30</a:t>
            </a:r>
          </a:p>
        </p:txBody>
      </p:sp>
      <p:sp>
        <p:nvSpPr>
          <p:cNvPr id="356" name="Text 5"/>
          <p:cNvSpPr txBox="1"/>
          <p:nvPr/>
        </p:nvSpPr>
        <p:spPr>
          <a:xfrm>
            <a:off x="1463039" y="2862072"/>
            <a:ext cx="21945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900" b="1">
                <a:solidFill>
                  <a:srgbClr val="6E6A63"/>
                </a:solidFill>
              </a:defRPr>
            </a:lvl1pPr>
          </a:lstStyle>
          <a:p>
            <a:r>
              <a:t>majorité des conjectures</a:t>
            </a:r>
          </a:p>
        </p:txBody>
      </p:sp>
      <p:sp>
        <p:nvSpPr>
          <p:cNvPr id="357" name="Text 6"/>
          <p:cNvSpPr txBox="1"/>
          <p:nvPr/>
        </p:nvSpPr>
        <p:spPr>
          <a:xfrm>
            <a:off x="1325879" y="3517392"/>
            <a:ext cx="246888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6E6A63"/>
                </a:solidFill>
              </a:defRPr>
            </a:lvl1pPr>
          </a:lstStyle>
          <a:p>
            <a:r>
              <a:t>par défaut</a:t>
            </a:r>
          </a:p>
        </p:txBody>
      </p:sp>
      <p:sp>
        <p:nvSpPr>
          <p:cNvPr id="358" name="Shape 7"/>
          <p:cNvSpPr/>
          <p:nvPr/>
        </p:nvSpPr>
        <p:spPr>
          <a:xfrm>
            <a:off x="4663440" y="2240279"/>
            <a:ext cx="2468881" cy="1051561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49A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9" name="Text 8"/>
          <p:cNvSpPr txBox="1"/>
          <p:nvPr/>
        </p:nvSpPr>
        <p:spPr>
          <a:xfrm>
            <a:off x="4800599" y="2404872"/>
            <a:ext cx="2194562" cy="365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2300" b="1">
                <a:solidFill>
                  <a:srgbClr val="C49A45"/>
                </a:solidFill>
              </a:defRPr>
            </a:lvl1pPr>
          </a:lstStyle>
          <a:p>
            <a:r>
              <a:t>60</a:t>
            </a:r>
          </a:p>
        </p:txBody>
      </p:sp>
      <p:sp>
        <p:nvSpPr>
          <p:cNvPr id="360" name="Text 9"/>
          <p:cNvSpPr txBox="1"/>
          <p:nvPr/>
        </p:nvSpPr>
        <p:spPr>
          <a:xfrm>
            <a:off x="4800599" y="2862072"/>
            <a:ext cx="219456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900" b="1">
                <a:solidFill>
                  <a:srgbClr val="6E6A63"/>
                </a:solidFill>
              </a:defRPr>
            </a:lvl1pPr>
          </a:lstStyle>
          <a:p>
            <a:r>
              <a:t>domination, spectral, clique/degré</a:t>
            </a:r>
          </a:p>
        </p:txBody>
      </p:sp>
      <p:sp>
        <p:nvSpPr>
          <p:cNvPr id="361" name="Text 10"/>
          <p:cNvSpPr txBox="1"/>
          <p:nvPr/>
        </p:nvSpPr>
        <p:spPr>
          <a:xfrm>
            <a:off x="4663440" y="3517392"/>
            <a:ext cx="246888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6E6A63"/>
                </a:solidFill>
              </a:defRPr>
            </a:lvl1pPr>
          </a:lstStyle>
          <a:p>
            <a:r>
              <a:t>couples sensibles</a:t>
            </a:r>
          </a:p>
        </p:txBody>
      </p:sp>
      <p:sp>
        <p:nvSpPr>
          <p:cNvPr id="362" name="Shape 11"/>
          <p:cNvSpPr/>
          <p:nvPr/>
        </p:nvSpPr>
        <p:spPr>
          <a:xfrm>
            <a:off x="8001000" y="2240279"/>
            <a:ext cx="2468880" cy="1051561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49A4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63" name="Text 12"/>
          <p:cNvSpPr txBox="1"/>
          <p:nvPr/>
        </p:nvSpPr>
        <p:spPr>
          <a:xfrm>
            <a:off x="8138159" y="2404872"/>
            <a:ext cx="2194561" cy="365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2300" b="1">
                <a:solidFill>
                  <a:srgbClr val="C49A45"/>
                </a:solidFill>
              </a:defRPr>
            </a:lvl1pPr>
          </a:lstStyle>
          <a:p>
            <a:r>
              <a:t>120</a:t>
            </a:r>
          </a:p>
        </p:txBody>
      </p:sp>
      <p:sp>
        <p:nvSpPr>
          <p:cNvPr id="364" name="Text 13"/>
          <p:cNvSpPr txBox="1"/>
          <p:nvPr/>
        </p:nvSpPr>
        <p:spPr>
          <a:xfrm>
            <a:off x="8138159" y="2862072"/>
            <a:ext cx="21945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900" b="1">
                <a:solidFill>
                  <a:srgbClr val="6E6A63"/>
                </a:solidFill>
              </a:defRPr>
            </a:lvl1pPr>
          </a:lstStyle>
          <a:p>
            <a:r>
              <a:t>density / proximity</a:t>
            </a:r>
          </a:p>
        </p:txBody>
      </p:sp>
      <p:sp>
        <p:nvSpPr>
          <p:cNvPr id="365" name="Text 14"/>
          <p:cNvSpPr txBox="1"/>
          <p:nvPr/>
        </p:nvSpPr>
        <p:spPr>
          <a:xfrm>
            <a:off x="8000999" y="3517392"/>
            <a:ext cx="246888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6E6A63"/>
                </a:solidFill>
              </a:defRPr>
            </a:lvl1pPr>
          </a:lstStyle>
          <a:p>
            <a:r>
              <a:t>cas exceptionnel</a:t>
            </a:r>
          </a:p>
        </p:txBody>
      </p:sp>
      <p:sp>
        <p:nvSpPr>
          <p:cNvPr id="366" name="Text 15"/>
          <p:cNvSpPr txBox="1"/>
          <p:nvPr/>
        </p:nvSpPr>
        <p:spPr>
          <a:xfrm>
            <a:off x="914399" y="4975860"/>
            <a:ext cx="10332722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 b="1">
                <a:solidFill>
                  <a:srgbClr val="C49A45"/>
                </a:solidFill>
              </a:defRPr>
            </a:lvl1pPr>
          </a:lstStyle>
          <a:p>
            <a:r>
              <a:t>La v5 ne change pas les familles de graphes : elle ajuste seulement l’effort de recherche.</a:t>
            </a:r>
          </a:p>
        </p:txBody>
      </p:sp>
      <p:sp>
        <p:nvSpPr>
          <p:cNvPr id="367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217151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14</a:t>
            </a:fld>
            <a:endParaRPr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Text 0"/>
          <p:cNvSpPr txBox="1"/>
          <p:nvPr/>
        </p:nvSpPr>
        <p:spPr>
          <a:xfrm>
            <a:off x="594359" y="398272"/>
            <a:ext cx="53035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216E6B"/>
                </a:solidFill>
              </a:defRPr>
            </a:lvl1pPr>
          </a:lstStyle>
          <a:p>
            <a:r>
              <a:t>COMPARAISON</a:t>
            </a:r>
          </a:p>
        </p:txBody>
      </p:sp>
      <p:sp>
        <p:nvSpPr>
          <p:cNvPr id="370" name="Text 1"/>
          <p:cNvSpPr txBox="1"/>
          <p:nvPr/>
        </p:nvSpPr>
        <p:spPr>
          <a:xfrm>
            <a:off x="594359" y="621791"/>
            <a:ext cx="1078992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500" b="1">
                <a:solidFill>
                  <a:srgbClr val="1B1C1E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r>
              <a:t>Résultats finaux</a:t>
            </a:r>
          </a:p>
        </p:txBody>
      </p:sp>
      <p:graphicFrame>
        <p:nvGraphicFramePr>
          <p:cNvPr id="371" name="Table 0"/>
          <p:cNvGraphicFramePr/>
          <p:nvPr/>
        </p:nvGraphicFramePr>
        <p:xfrm>
          <a:off x="777240" y="1417319"/>
          <a:ext cx="10424160" cy="283464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Méthode</a:t>
                      </a:r>
                    </a:p>
                  </a:txBody>
                  <a:tcPr marL="73152" marR="73152" marT="73152" marB="73152" horzOverflow="overflow">
                    <a:lnL w="12700">
                      <a:solidFill>
                        <a:srgbClr val="D8D1C4"/>
                      </a:solidFill>
                    </a:lnL>
                    <a:lnR w="12700">
                      <a:solidFill>
                        <a:srgbClr val="D8D1C4"/>
                      </a:solidFill>
                    </a:lnR>
                    <a:lnT w="12700">
                      <a:solidFill>
                        <a:srgbClr val="D8D1C4"/>
                      </a:solidFill>
                    </a:lnT>
                    <a:lnB w="12700">
                      <a:solidFill>
                        <a:srgbClr val="D8D1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Trouvé</a:t>
                      </a:r>
                    </a:p>
                  </a:txBody>
                  <a:tcPr marL="73152" marR="73152" marT="73152" marB="73152" horzOverflow="overflow">
                    <a:lnL w="12700">
                      <a:solidFill>
                        <a:srgbClr val="D8D1C4"/>
                      </a:solidFill>
                    </a:lnL>
                    <a:lnR w="12700">
                      <a:solidFill>
                        <a:srgbClr val="D8D1C4"/>
                      </a:solidFill>
                    </a:lnR>
                    <a:lnT w="12700">
                      <a:solidFill>
                        <a:srgbClr val="D8D1C4"/>
                      </a:solidFill>
                    </a:lnT>
                    <a:lnB w="12700">
                      <a:solidFill>
                        <a:srgbClr val="D8D1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Temps total</a:t>
                      </a:r>
                    </a:p>
                  </a:txBody>
                  <a:tcPr marL="73152" marR="73152" marT="73152" marB="73152" horzOverflow="overflow">
                    <a:lnL w="12700">
                      <a:solidFill>
                        <a:srgbClr val="D8D1C4"/>
                      </a:solidFill>
                    </a:lnL>
                    <a:lnR w="12700">
                      <a:solidFill>
                        <a:srgbClr val="D8D1C4"/>
                      </a:solidFill>
                    </a:lnR>
                    <a:lnT w="12700">
                      <a:solidFill>
                        <a:srgbClr val="D8D1C4"/>
                      </a:solidFill>
                    </a:lnT>
                    <a:lnB w="12700">
                      <a:solidFill>
                        <a:srgbClr val="D8D1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Temps moyen</a:t>
                      </a:r>
                    </a:p>
                  </a:txBody>
                  <a:tcPr marL="73152" marR="73152" marT="73152" marB="73152" horzOverflow="overflow">
                    <a:lnL w="12700">
                      <a:solidFill>
                        <a:srgbClr val="D8D1C4"/>
                      </a:solidFill>
                    </a:lnL>
                    <a:lnR w="12700">
                      <a:solidFill>
                        <a:srgbClr val="D8D1C4"/>
                      </a:solidFill>
                    </a:lnR>
                    <a:lnT w="12700">
                      <a:solidFill>
                        <a:srgbClr val="D8D1C4"/>
                      </a:solidFill>
                    </a:lnT>
                    <a:lnB w="12700">
                      <a:solidFill>
                        <a:srgbClr val="D8D1C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300">
                          <a:solidFill>
                            <a:srgbClr val="1B1C1E"/>
                          </a:solidFill>
                        </a:rPr>
                        <a:t>Heuristique v4</a:t>
                      </a:r>
                    </a:p>
                  </a:txBody>
                  <a:tcPr marL="73152" marR="73152" marT="73152" marB="73152" horzOverflow="overflow">
                    <a:lnL w="12700">
                      <a:solidFill>
                        <a:srgbClr val="D8D1C4"/>
                      </a:solidFill>
                    </a:lnL>
                    <a:lnR w="12700">
                      <a:solidFill>
                        <a:srgbClr val="D8D1C4"/>
                      </a:solidFill>
                    </a:lnR>
                    <a:lnT w="12700">
                      <a:solidFill>
                        <a:srgbClr val="D8D1C4"/>
                      </a:solidFill>
                    </a:lnT>
                    <a:lnB w="12700">
                      <a:solidFill>
                        <a:srgbClr val="D8D1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300">
                          <a:solidFill>
                            <a:srgbClr val="1B1C1E"/>
                          </a:solidFill>
                        </a:rPr>
                        <a:t>100/100</a:t>
                      </a:r>
                    </a:p>
                  </a:txBody>
                  <a:tcPr marL="73152" marR="73152" marT="73152" marB="73152" horzOverflow="overflow">
                    <a:lnL w="12700">
                      <a:solidFill>
                        <a:srgbClr val="D8D1C4"/>
                      </a:solidFill>
                    </a:lnL>
                    <a:lnR w="12700">
                      <a:solidFill>
                        <a:srgbClr val="D8D1C4"/>
                      </a:solidFill>
                    </a:lnR>
                    <a:lnT w="12700">
                      <a:solidFill>
                        <a:srgbClr val="D8D1C4"/>
                      </a:solidFill>
                    </a:lnT>
                    <a:lnB w="12700">
                      <a:solidFill>
                        <a:srgbClr val="D8D1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300">
                          <a:solidFill>
                            <a:srgbClr val="1B1C1E"/>
                          </a:solidFill>
                        </a:rPr>
                        <a:t>136.80 s</a:t>
                      </a:r>
                    </a:p>
                  </a:txBody>
                  <a:tcPr marL="73152" marR="73152" marT="73152" marB="73152" horzOverflow="overflow">
                    <a:lnL w="12700">
                      <a:solidFill>
                        <a:srgbClr val="D8D1C4"/>
                      </a:solidFill>
                    </a:lnL>
                    <a:lnR w="12700">
                      <a:solidFill>
                        <a:srgbClr val="D8D1C4"/>
                      </a:solidFill>
                    </a:lnR>
                    <a:lnT w="12700">
                      <a:solidFill>
                        <a:srgbClr val="D8D1C4"/>
                      </a:solidFill>
                    </a:lnT>
                    <a:lnB w="12700">
                      <a:solidFill>
                        <a:srgbClr val="D8D1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300">
                          <a:solidFill>
                            <a:srgbClr val="1B1C1E"/>
                          </a:solidFill>
                        </a:rPr>
                        <a:t>1.368 s</a:t>
                      </a:r>
                    </a:p>
                  </a:txBody>
                  <a:tcPr marL="73152" marR="73152" marT="73152" marB="73152" horzOverflow="overflow">
                    <a:lnL w="12700">
                      <a:solidFill>
                        <a:srgbClr val="D8D1C4"/>
                      </a:solidFill>
                    </a:lnL>
                    <a:lnR w="12700">
                      <a:solidFill>
                        <a:srgbClr val="D8D1C4"/>
                      </a:solidFill>
                    </a:lnR>
                    <a:lnT w="12700">
                      <a:solidFill>
                        <a:srgbClr val="D8D1C4"/>
                      </a:solidFill>
                    </a:lnT>
                    <a:lnB w="12700">
                      <a:solidFill>
                        <a:srgbClr val="D8D1C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300">
                          <a:solidFill>
                            <a:srgbClr val="1B1C1E"/>
                          </a:solidFill>
                        </a:rPr>
                        <a:t>Heuristique v5</a:t>
                      </a:r>
                    </a:p>
                  </a:txBody>
                  <a:tcPr marL="73152" marR="73152" marT="73152" marB="73152" horzOverflow="overflow">
                    <a:lnL w="12700">
                      <a:solidFill>
                        <a:srgbClr val="D8D1C4"/>
                      </a:solidFill>
                    </a:lnL>
                    <a:lnR w="12700">
                      <a:solidFill>
                        <a:srgbClr val="D8D1C4"/>
                      </a:solidFill>
                    </a:lnR>
                    <a:lnT w="12700">
                      <a:solidFill>
                        <a:srgbClr val="D8D1C4"/>
                      </a:solidFill>
                    </a:lnT>
                    <a:lnB w="12700">
                      <a:solidFill>
                        <a:srgbClr val="D8D1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300">
                          <a:solidFill>
                            <a:srgbClr val="1B1C1E"/>
                          </a:solidFill>
                        </a:rPr>
                        <a:t>100/100</a:t>
                      </a:r>
                    </a:p>
                  </a:txBody>
                  <a:tcPr marL="73152" marR="73152" marT="73152" marB="73152" horzOverflow="overflow">
                    <a:lnL w="12700">
                      <a:solidFill>
                        <a:srgbClr val="D8D1C4"/>
                      </a:solidFill>
                    </a:lnL>
                    <a:lnR w="12700">
                      <a:solidFill>
                        <a:srgbClr val="D8D1C4"/>
                      </a:solidFill>
                    </a:lnR>
                    <a:lnT w="12700">
                      <a:solidFill>
                        <a:srgbClr val="D8D1C4"/>
                      </a:solidFill>
                    </a:lnT>
                    <a:lnB w="12700">
                      <a:solidFill>
                        <a:srgbClr val="D8D1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300">
                          <a:solidFill>
                            <a:srgbClr val="1B1C1E"/>
                          </a:solidFill>
                        </a:rPr>
                        <a:t>25.28 s</a:t>
                      </a:r>
                    </a:p>
                  </a:txBody>
                  <a:tcPr marL="73152" marR="73152" marT="73152" marB="73152" horzOverflow="overflow">
                    <a:lnL w="12700">
                      <a:solidFill>
                        <a:srgbClr val="D8D1C4"/>
                      </a:solidFill>
                    </a:lnL>
                    <a:lnR w="12700">
                      <a:solidFill>
                        <a:srgbClr val="D8D1C4"/>
                      </a:solidFill>
                    </a:lnR>
                    <a:lnT w="12700">
                      <a:solidFill>
                        <a:srgbClr val="D8D1C4"/>
                      </a:solidFill>
                    </a:lnT>
                    <a:lnB w="12700">
                      <a:solidFill>
                        <a:srgbClr val="D8D1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300">
                          <a:solidFill>
                            <a:srgbClr val="1B1C1E"/>
                          </a:solidFill>
                        </a:rPr>
                        <a:t>0.253 s</a:t>
                      </a:r>
                    </a:p>
                  </a:txBody>
                  <a:tcPr marL="73152" marR="73152" marT="73152" marB="73152" horzOverflow="overflow">
                    <a:lnL w="12700">
                      <a:solidFill>
                        <a:srgbClr val="D8D1C4"/>
                      </a:solidFill>
                    </a:lnL>
                    <a:lnR w="12700">
                      <a:solidFill>
                        <a:srgbClr val="D8D1C4"/>
                      </a:solidFill>
                    </a:lnR>
                    <a:lnT w="12700">
                      <a:solidFill>
                        <a:srgbClr val="D8D1C4"/>
                      </a:solidFill>
                    </a:lnT>
                    <a:lnB w="12700">
                      <a:solidFill>
                        <a:srgbClr val="D8D1C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300">
                          <a:solidFill>
                            <a:srgbClr val="1B1C1E"/>
                          </a:solidFill>
                        </a:rPr>
                        <a:t>FunSearch GPT-5.5 cand. 006</a:t>
                      </a:r>
                    </a:p>
                  </a:txBody>
                  <a:tcPr marL="73152" marR="73152" marT="73152" marB="73152" horzOverflow="overflow">
                    <a:lnL w="12700">
                      <a:solidFill>
                        <a:srgbClr val="D8D1C4"/>
                      </a:solidFill>
                    </a:lnL>
                    <a:lnR w="12700">
                      <a:solidFill>
                        <a:srgbClr val="D8D1C4"/>
                      </a:solidFill>
                    </a:lnR>
                    <a:lnT w="12700">
                      <a:solidFill>
                        <a:srgbClr val="D8D1C4"/>
                      </a:solidFill>
                    </a:lnT>
                    <a:lnB w="12700">
                      <a:solidFill>
                        <a:srgbClr val="D8D1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300">
                          <a:solidFill>
                            <a:srgbClr val="1B1C1E"/>
                          </a:solidFill>
                        </a:rPr>
                        <a:t>100/100</a:t>
                      </a:r>
                    </a:p>
                  </a:txBody>
                  <a:tcPr marL="73152" marR="73152" marT="73152" marB="73152" horzOverflow="overflow">
                    <a:lnL w="12700">
                      <a:solidFill>
                        <a:srgbClr val="D8D1C4"/>
                      </a:solidFill>
                    </a:lnL>
                    <a:lnR w="12700">
                      <a:solidFill>
                        <a:srgbClr val="D8D1C4"/>
                      </a:solidFill>
                    </a:lnR>
                    <a:lnT w="12700">
                      <a:solidFill>
                        <a:srgbClr val="D8D1C4"/>
                      </a:solidFill>
                    </a:lnT>
                    <a:lnB w="12700">
                      <a:solidFill>
                        <a:srgbClr val="D8D1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300">
                          <a:solidFill>
                            <a:srgbClr val="1B1C1E"/>
                          </a:solidFill>
                        </a:rPr>
                        <a:t>126.54 s</a:t>
                      </a:r>
                    </a:p>
                  </a:txBody>
                  <a:tcPr marL="73152" marR="73152" marT="73152" marB="73152" horzOverflow="overflow">
                    <a:lnL w="12700">
                      <a:solidFill>
                        <a:srgbClr val="D8D1C4"/>
                      </a:solidFill>
                    </a:lnL>
                    <a:lnR w="12700">
                      <a:solidFill>
                        <a:srgbClr val="D8D1C4"/>
                      </a:solidFill>
                    </a:lnR>
                    <a:lnT w="12700">
                      <a:solidFill>
                        <a:srgbClr val="D8D1C4"/>
                      </a:solidFill>
                    </a:lnT>
                    <a:lnB w="12700">
                      <a:solidFill>
                        <a:srgbClr val="D8D1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300">
                          <a:solidFill>
                            <a:srgbClr val="1B1C1E"/>
                          </a:solidFill>
                        </a:rPr>
                        <a:t>1.265 s</a:t>
                      </a:r>
                    </a:p>
                  </a:txBody>
                  <a:tcPr marL="73152" marR="73152" marT="73152" marB="73152" horzOverflow="overflow">
                    <a:lnL w="12700">
                      <a:solidFill>
                        <a:srgbClr val="D8D1C4"/>
                      </a:solidFill>
                    </a:lnL>
                    <a:lnR w="12700">
                      <a:solidFill>
                        <a:srgbClr val="D8D1C4"/>
                      </a:solidFill>
                    </a:lnR>
                    <a:lnT w="12700">
                      <a:solidFill>
                        <a:srgbClr val="D8D1C4"/>
                      </a:solidFill>
                    </a:lnT>
                    <a:lnB w="12700">
                      <a:solidFill>
                        <a:srgbClr val="D8D1C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300">
                          <a:solidFill>
                            <a:srgbClr val="1B1C1E"/>
                          </a:solidFill>
                        </a:rPr>
                        <a:t>FunSearch DeepSeek cand. 014</a:t>
                      </a:r>
                    </a:p>
                  </a:txBody>
                  <a:tcPr marL="73152" marR="73152" marT="73152" marB="73152" horzOverflow="overflow">
                    <a:lnL w="12700">
                      <a:solidFill>
                        <a:srgbClr val="D8D1C4"/>
                      </a:solidFill>
                    </a:lnL>
                    <a:lnR w="12700">
                      <a:solidFill>
                        <a:srgbClr val="D8D1C4"/>
                      </a:solidFill>
                    </a:lnR>
                    <a:lnT w="12700">
                      <a:solidFill>
                        <a:srgbClr val="D8D1C4"/>
                      </a:solidFill>
                    </a:lnT>
                    <a:lnB w="12700">
                      <a:solidFill>
                        <a:srgbClr val="D8D1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300">
                          <a:solidFill>
                            <a:srgbClr val="1B1C1E"/>
                          </a:solidFill>
                        </a:rPr>
                        <a:t>100/100</a:t>
                      </a:r>
                    </a:p>
                  </a:txBody>
                  <a:tcPr marL="73152" marR="73152" marT="73152" marB="73152" horzOverflow="overflow">
                    <a:lnL w="12700">
                      <a:solidFill>
                        <a:srgbClr val="D8D1C4"/>
                      </a:solidFill>
                    </a:lnL>
                    <a:lnR w="12700">
                      <a:solidFill>
                        <a:srgbClr val="D8D1C4"/>
                      </a:solidFill>
                    </a:lnR>
                    <a:lnT w="12700">
                      <a:solidFill>
                        <a:srgbClr val="D8D1C4"/>
                      </a:solidFill>
                    </a:lnT>
                    <a:lnB w="12700">
                      <a:solidFill>
                        <a:srgbClr val="D8D1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300">
                          <a:solidFill>
                            <a:srgbClr val="1B1C1E"/>
                          </a:solidFill>
                        </a:rPr>
                        <a:t>122.46 s</a:t>
                      </a:r>
                    </a:p>
                  </a:txBody>
                  <a:tcPr marL="73152" marR="73152" marT="73152" marB="73152" horzOverflow="overflow">
                    <a:lnL w="12700">
                      <a:solidFill>
                        <a:srgbClr val="D8D1C4"/>
                      </a:solidFill>
                    </a:lnL>
                    <a:lnR w="12700">
                      <a:solidFill>
                        <a:srgbClr val="D8D1C4"/>
                      </a:solidFill>
                    </a:lnR>
                    <a:lnT w="12700">
                      <a:solidFill>
                        <a:srgbClr val="D8D1C4"/>
                      </a:solidFill>
                    </a:lnT>
                    <a:lnB w="12700">
                      <a:solidFill>
                        <a:srgbClr val="D8D1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300">
                          <a:solidFill>
                            <a:srgbClr val="1B1C1E"/>
                          </a:solidFill>
                        </a:rPr>
                        <a:t>1.225 s</a:t>
                      </a:r>
                    </a:p>
                  </a:txBody>
                  <a:tcPr marL="73152" marR="73152" marT="73152" marB="73152" horzOverflow="overflow">
                    <a:lnL w="12700">
                      <a:solidFill>
                        <a:srgbClr val="D8D1C4"/>
                      </a:solidFill>
                    </a:lnL>
                    <a:lnR w="12700">
                      <a:solidFill>
                        <a:srgbClr val="D8D1C4"/>
                      </a:solidFill>
                    </a:lnR>
                    <a:lnT w="12700">
                      <a:solidFill>
                        <a:srgbClr val="D8D1C4"/>
                      </a:solidFill>
                    </a:lnT>
                    <a:lnB w="12700">
                      <a:solidFill>
                        <a:srgbClr val="D8D1C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2" name="Shape 2"/>
          <p:cNvSpPr/>
          <p:nvPr/>
        </p:nvSpPr>
        <p:spPr>
          <a:xfrm>
            <a:off x="777240" y="1417319"/>
            <a:ext cx="10652760" cy="566929"/>
          </a:xfrm>
          <a:prstGeom prst="rect">
            <a:avLst/>
          </a:prstGeom>
          <a:solidFill>
            <a:srgbClr val="216E6B"/>
          </a:solidFill>
          <a:ln w="12700">
            <a:solidFill>
              <a:srgbClr val="216E6B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73" name="Text 3"/>
          <p:cNvSpPr txBox="1"/>
          <p:nvPr/>
        </p:nvSpPr>
        <p:spPr>
          <a:xfrm>
            <a:off x="914399" y="5050789"/>
            <a:ext cx="10332722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400" b="1">
                <a:solidFill>
                  <a:srgbClr val="306E6B"/>
                </a:solidFill>
              </a:defRPr>
            </a:lvl1pPr>
          </a:lstStyle>
          <a:p>
            <a:r>
              <a:t>Gain v5 vs v4 : -8.86 s tout en gardant 100/100</a:t>
            </a:r>
          </a:p>
        </p:txBody>
      </p:sp>
      <p:sp>
        <p:nvSpPr>
          <p:cNvPr id="374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217151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15</a:t>
            </a:fld>
            <a:endParaRPr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Text 0"/>
          <p:cNvSpPr txBox="1"/>
          <p:nvPr/>
        </p:nvSpPr>
        <p:spPr>
          <a:xfrm>
            <a:off x="594359" y="398272"/>
            <a:ext cx="53035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216E6B"/>
                </a:solidFill>
              </a:defRPr>
            </a:lvl1pPr>
          </a:lstStyle>
          <a:p>
            <a:r>
              <a:t>PARTIE 2</a:t>
            </a:r>
          </a:p>
        </p:txBody>
      </p:sp>
      <p:sp>
        <p:nvSpPr>
          <p:cNvPr id="377" name="Text 1"/>
          <p:cNvSpPr txBox="1"/>
          <p:nvPr/>
        </p:nvSpPr>
        <p:spPr>
          <a:xfrm>
            <a:off x="594359" y="621791"/>
            <a:ext cx="1078992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500" b="1">
                <a:solidFill>
                  <a:srgbClr val="1B1C1E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r>
              <a:t>FunSearch : utile, mais pas meilleur</a:t>
            </a:r>
          </a:p>
        </p:txBody>
      </p:sp>
      <p:sp>
        <p:nvSpPr>
          <p:cNvPr id="378" name="Shape 2"/>
          <p:cNvSpPr/>
          <p:nvPr/>
        </p:nvSpPr>
        <p:spPr>
          <a:xfrm>
            <a:off x="777240" y="1325880"/>
            <a:ext cx="3383280" cy="2971801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79" name="Shape 3"/>
          <p:cNvSpPr/>
          <p:nvPr/>
        </p:nvSpPr>
        <p:spPr>
          <a:xfrm>
            <a:off x="777240" y="1325880"/>
            <a:ext cx="73153" cy="2971801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0" name="Text 4"/>
          <p:cNvSpPr txBox="1"/>
          <p:nvPr/>
        </p:nvSpPr>
        <p:spPr>
          <a:xfrm>
            <a:off x="1005839" y="1490472"/>
            <a:ext cx="2971801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 b="1">
                <a:solidFill>
                  <a:srgbClr val="1B1C1E"/>
                </a:solidFill>
              </a:defRPr>
            </a:lvl1pPr>
          </a:lstStyle>
          <a:p>
            <a:r>
              <a:t>Ce que ça fait</a:t>
            </a:r>
          </a:p>
        </p:txBody>
      </p:sp>
      <p:sp>
        <p:nvSpPr>
          <p:cNvPr id="381" name="Text 5"/>
          <p:cNvSpPr txBox="1"/>
          <p:nvPr/>
        </p:nvSpPr>
        <p:spPr>
          <a:xfrm>
            <a:off x="1005839" y="1856232"/>
            <a:ext cx="2971801" cy="228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E6A63"/>
                </a:solidFill>
              </a:defRPr>
            </a:lvl1pPr>
          </a:lstStyle>
          <a:p>
            <a:r>
              <a:t>Le modèle propose une fonction de score, évaluée automatiquement par le même moteur que la Partie 1.</a:t>
            </a:r>
          </a:p>
        </p:txBody>
      </p:sp>
      <p:sp>
        <p:nvSpPr>
          <p:cNvPr id="382" name="Shape 6"/>
          <p:cNvSpPr/>
          <p:nvPr/>
        </p:nvSpPr>
        <p:spPr>
          <a:xfrm>
            <a:off x="4434840" y="1325880"/>
            <a:ext cx="3383281" cy="2971801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3" name="Shape 7"/>
          <p:cNvSpPr/>
          <p:nvPr/>
        </p:nvSpPr>
        <p:spPr>
          <a:xfrm>
            <a:off x="4434840" y="1325880"/>
            <a:ext cx="73153" cy="2971801"/>
          </a:xfrm>
          <a:prstGeom prst="rect">
            <a:avLst/>
          </a:prstGeom>
          <a:solidFill>
            <a:srgbClr val="6B8E4E"/>
          </a:solidFill>
          <a:ln w="12700">
            <a:solidFill>
              <a:srgbClr val="6B8E4E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4" name="Text 8"/>
          <p:cNvSpPr txBox="1"/>
          <p:nvPr/>
        </p:nvSpPr>
        <p:spPr>
          <a:xfrm>
            <a:off x="4663440" y="1490472"/>
            <a:ext cx="2971801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 b="1">
                <a:solidFill>
                  <a:srgbClr val="1B1C1E"/>
                </a:solidFill>
              </a:defRPr>
            </a:lvl1pPr>
          </a:lstStyle>
          <a:p>
            <a:r>
              <a:t>Ce qui marche</a:t>
            </a:r>
          </a:p>
        </p:txBody>
      </p:sp>
      <p:sp>
        <p:nvSpPr>
          <p:cNvPr id="385" name="Text 9"/>
          <p:cNvSpPr txBox="1"/>
          <p:nvPr/>
        </p:nvSpPr>
        <p:spPr>
          <a:xfrm>
            <a:off x="4663440" y="1856232"/>
            <a:ext cx="2971801" cy="228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E6A63"/>
                </a:solidFill>
              </a:defRPr>
            </a:lvl1pPr>
          </a:lstStyle>
          <a:p>
            <a:r>
              <a:t>Des candidats atteignent 100/100 : GPT-5.5 candidate 006 et DeepSeek candidate 014.</a:t>
            </a:r>
          </a:p>
        </p:txBody>
      </p:sp>
      <p:sp>
        <p:nvSpPr>
          <p:cNvPr id="386" name="Shape 10"/>
          <p:cNvSpPr/>
          <p:nvPr/>
        </p:nvSpPr>
        <p:spPr>
          <a:xfrm>
            <a:off x="8092440" y="1325880"/>
            <a:ext cx="3383281" cy="2971801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7" name="Shape 11"/>
          <p:cNvSpPr/>
          <p:nvPr/>
        </p:nvSpPr>
        <p:spPr>
          <a:xfrm>
            <a:off x="8092440" y="1325880"/>
            <a:ext cx="73153" cy="2971801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8" name="Text 12"/>
          <p:cNvSpPr txBox="1"/>
          <p:nvPr/>
        </p:nvSpPr>
        <p:spPr>
          <a:xfrm>
            <a:off x="8321040" y="1490472"/>
            <a:ext cx="2971801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 b="1">
                <a:solidFill>
                  <a:srgbClr val="1B1C1E"/>
                </a:solidFill>
              </a:defRPr>
            </a:lvl1pPr>
          </a:lstStyle>
          <a:p>
            <a:r>
              <a:t>Limite observée</a:t>
            </a:r>
          </a:p>
        </p:txBody>
      </p:sp>
      <p:sp>
        <p:nvSpPr>
          <p:cNvPr id="389" name="Text 13"/>
          <p:cNvSpPr txBox="1"/>
          <p:nvPr/>
        </p:nvSpPr>
        <p:spPr>
          <a:xfrm>
            <a:off x="8321040" y="1856232"/>
            <a:ext cx="2971801" cy="228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E6A63"/>
                </a:solidFill>
              </a:defRPr>
            </a:lvl1pPr>
          </a:lstStyle>
          <a:p>
            <a:r>
              <a:t>Aucun candidat FunSearch ne bat l’heuristique manuelle v5 en temps total.</a:t>
            </a:r>
          </a:p>
        </p:txBody>
      </p:sp>
      <p:sp>
        <p:nvSpPr>
          <p:cNvPr id="390" name="Text 14"/>
          <p:cNvSpPr txBox="1"/>
          <p:nvPr/>
        </p:nvSpPr>
        <p:spPr>
          <a:xfrm>
            <a:off x="868679" y="5074920"/>
            <a:ext cx="1046988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 defTabSz="877823">
              <a:defRPr sz="1824" b="1">
                <a:solidFill>
                  <a:srgbClr val="1B1C1E"/>
                </a:solidFill>
              </a:defRPr>
            </a:lvl1pPr>
          </a:lstStyle>
          <a:p>
            <a:r>
              <a:t>Conclusion : FunSearch valide l’architecture, mais le gain principal vient des familles initiales.</a:t>
            </a:r>
          </a:p>
        </p:txBody>
      </p:sp>
      <p:sp>
        <p:nvSpPr>
          <p:cNvPr id="391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217151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16</a:t>
            </a:fld>
            <a:endParaRPr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Text 0"/>
          <p:cNvSpPr txBox="1"/>
          <p:nvPr/>
        </p:nvSpPr>
        <p:spPr>
          <a:xfrm>
            <a:off x="594359" y="398272"/>
            <a:ext cx="53035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216E6B"/>
                </a:solidFill>
              </a:defRPr>
            </a:lvl1pPr>
          </a:lstStyle>
          <a:p>
            <a:r>
              <a:t>CE QUE LE RAPPORT MONTRE</a:t>
            </a:r>
          </a:p>
        </p:txBody>
      </p:sp>
      <p:sp>
        <p:nvSpPr>
          <p:cNvPr id="394" name="Text 1"/>
          <p:cNvSpPr txBox="1"/>
          <p:nvPr/>
        </p:nvSpPr>
        <p:spPr>
          <a:xfrm>
            <a:off x="594359" y="621791"/>
            <a:ext cx="1078992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500" b="1">
                <a:solidFill>
                  <a:srgbClr val="1B1C1E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r>
              <a:t>Analyse scientifique</a:t>
            </a:r>
          </a:p>
        </p:txBody>
      </p:sp>
      <p:sp>
        <p:nvSpPr>
          <p:cNvPr id="395" name="Shape 2"/>
          <p:cNvSpPr/>
          <p:nvPr/>
        </p:nvSpPr>
        <p:spPr>
          <a:xfrm>
            <a:off x="777240" y="1234439"/>
            <a:ext cx="5166360" cy="1874522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6" name="Shape 3"/>
          <p:cNvSpPr/>
          <p:nvPr/>
        </p:nvSpPr>
        <p:spPr>
          <a:xfrm>
            <a:off x="777240" y="1234439"/>
            <a:ext cx="73153" cy="1874521"/>
          </a:xfrm>
          <a:prstGeom prst="rect">
            <a:avLst/>
          </a:prstGeom>
          <a:solidFill>
            <a:srgbClr val="6B8E4E"/>
          </a:solidFill>
          <a:ln w="12700">
            <a:solidFill>
              <a:srgbClr val="6B8E4E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7" name="Text 4"/>
          <p:cNvSpPr txBox="1"/>
          <p:nvPr/>
        </p:nvSpPr>
        <p:spPr>
          <a:xfrm>
            <a:off x="1005840" y="1399032"/>
            <a:ext cx="4754880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 b="1">
                <a:solidFill>
                  <a:srgbClr val="1B1C1E"/>
                </a:solidFill>
              </a:defRPr>
            </a:lvl1pPr>
          </a:lstStyle>
          <a:p>
            <a:r>
              <a:t>Conjectures faciles</a:t>
            </a:r>
          </a:p>
        </p:txBody>
      </p:sp>
      <p:sp>
        <p:nvSpPr>
          <p:cNvPr id="398" name="Text 5"/>
          <p:cNvSpPr txBox="1"/>
          <p:nvPr/>
        </p:nvSpPr>
        <p:spPr>
          <a:xfrm>
            <a:off x="1005840" y="1764792"/>
            <a:ext cx="4754880" cy="118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E6A63"/>
                </a:solidFill>
              </a:defRPr>
            </a:lvl1pPr>
          </a:lstStyle>
          <a:p>
            <a:r>
              <a:t>Familles extrémales simples : cliques, chemins, araignées, doubles étoiles.</a:t>
            </a:r>
          </a:p>
        </p:txBody>
      </p:sp>
      <p:sp>
        <p:nvSpPr>
          <p:cNvPr id="399" name="Shape 6"/>
          <p:cNvSpPr/>
          <p:nvPr/>
        </p:nvSpPr>
        <p:spPr>
          <a:xfrm>
            <a:off x="6263640" y="1234439"/>
            <a:ext cx="5166360" cy="1874522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00" name="Shape 7"/>
          <p:cNvSpPr/>
          <p:nvPr/>
        </p:nvSpPr>
        <p:spPr>
          <a:xfrm>
            <a:off x="6263640" y="1234439"/>
            <a:ext cx="73153" cy="1874521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01" name="Text 8"/>
          <p:cNvSpPr txBox="1"/>
          <p:nvPr/>
        </p:nvSpPr>
        <p:spPr>
          <a:xfrm>
            <a:off x="6492240" y="1399032"/>
            <a:ext cx="4754881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 b="1">
                <a:solidFill>
                  <a:srgbClr val="1B1C1E"/>
                </a:solidFill>
              </a:defRPr>
            </a:lvl1pPr>
          </a:lstStyle>
          <a:p>
            <a:r>
              <a:t>Conjectures difficiles</a:t>
            </a:r>
          </a:p>
        </p:txBody>
      </p:sp>
      <p:sp>
        <p:nvSpPr>
          <p:cNvPr id="402" name="Text 9"/>
          <p:cNvSpPr txBox="1"/>
          <p:nvPr/>
        </p:nvSpPr>
        <p:spPr>
          <a:xfrm>
            <a:off x="6492240" y="1764792"/>
            <a:ext cx="4754881" cy="118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E6A63"/>
                </a:solidFill>
              </a:defRPr>
            </a:lvl1pPr>
          </a:lstStyle>
          <a:p>
            <a:r>
              <a:t>Distances, domination, domination indépendante, domination totale, valeurs propres.</a:t>
            </a:r>
          </a:p>
        </p:txBody>
      </p:sp>
      <p:sp>
        <p:nvSpPr>
          <p:cNvPr id="403" name="Shape 10"/>
          <p:cNvSpPr/>
          <p:nvPr/>
        </p:nvSpPr>
        <p:spPr>
          <a:xfrm>
            <a:off x="777240" y="3703320"/>
            <a:ext cx="10652760" cy="1188721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04" name="Shape 11"/>
          <p:cNvSpPr/>
          <p:nvPr/>
        </p:nvSpPr>
        <p:spPr>
          <a:xfrm>
            <a:off x="777240" y="3703320"/>
            <a:ext cx="73153" cy="1188721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05" name="Text 12"/>
          <p:cNvSpPr txBox="1"/>
          <p:nvPr/>
        </p:nvSpPr>
        <p:spPr>
          <a:xfrm>
            <a:off x="1005839" y="3867911"/>
            <a:ext cx="10241282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 b="1">
                <a:solidFill>
                  <a:srgbClr val="1B1C1E"/>
                </a:solidFill>
              </a:defRPr>
            </a:lvl1pPr>
          </a:lstStyle>
          <a:p>
            <a:r>
              <a:t>Correction importante</a:t>
            </a:r>
          </a:p>
        </p:txBody>
      </p:sp>
      <p:sp>
        <p:nvSpPr>
          <p:cNvPr id="406" name="Text 13"/>
          <p:cNvSpPr txBox="1"/>
          <p:nvPr/>
        </p:nvSpPr>
        <p:spPr>
          <a:xfrm>
            <a:off x="1005839" y="4233671"/>
            <a:ext cx="1024128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E6A63"/>
                </a:solidFill>
              </a:defRPr>
            </a:lvl1pPr>
          </a:lstStyle>
          <a:p>
            <a:r>
              <a:t>Les conventions du benchmark sont réciproques : proximity = 1 / max average distance ; remoteness = 1 / min average distance.</a:t>
            </a:r>
          </a:p>
        </p:txBody>
      </p:sp>
      <p:sp>
        <p:nvSpPr>
          <p:cNvPr id="407" name="Text 14"/>
          <p:cNvSpPr txBox="1"/>
          <p:nvPr/>
        </p:nvSpPr>
        <p:spPr>
          <a:xfrm>
            <a:off x="868680" y="5321299"/>
            <a:ext cx="10515601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183A3A"/>
                </a:solidFill>
              </a:defRPr>
            </a:lvl1pPr>
          </a:lstStyle>
          <a:p>
            <a:r>
              <a:t>Une partie de la difficulté venait des invariants et de leurs conventions, pas seulement de la recherche.</a:t>
            </a:r>
          </a:p>
        </p:txBody>
      </p:sp>
      <p:sp>
        <p:nvSpPr>
          <p:cNvPr id="408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217151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17</a:t>
            </a:fld>
            <a:endParaRPr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Text 0"/>
          <p:cNvSpPr txBox="1"/>
          <p:nvPr/>
        </p:nvSpPr>
        <p:spPr>
          <a:xfrm>
            <a:off x="594359" y="398272"/>
            <a:ext cx="53035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216E6B"/>
                </a:solidFill>
              </a:defRPr>
            </a:lvl1pPr>
          </a:lstStyle>
          <a:p>
            <a:r>
              <a:t>CONCLUSION</a:t>
            </a:r>
          </a:p>
        </p:txBody>
      </p:sp>
      <p:sp>
        <p:nvSpPr>
          <p:cNvPr id="411" name="Text 1"/>
          <p:cNvSpPr txBox="1"/>
          <p:nvPr/>
        </p:nvSpPr>
        <p:spPr>
          <a:xfrm>
            <a:off x="594359" y="621791"/>
            <a:ext cx="1078992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500" b="1">
                <a:solidFill>
                  <a:srgbClr val="1B1C1E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r>
              <a:t>Message final</a:t>
            </a:r>
          </a:p>
        </p:txBody>
      </p:sp>
      <p:sp>
        <p:nvSpPr>
          <p:cNvPr id="412" name="Shape 2"/>
          <p:cNvSpPr/>
          <p:nvPr/>
        </p:nvSpPr>
        <p:spPr>
          <a:xfrm>
            <a:off x="914400" y="1417319"/>
            <a:ext cx="2194561" cy="1051562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3" name="Text 3"/>
          <p:cNvSpPr txBox="1"/>
          <p:nvPr/>
        </p:nvSpPr>
        <p:spPr>
          <a:xfrm>
            <a:off x="1051560" y="1581911"/>
            <a:ext cx="1920241" cy="365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2300" b="1">
                <a:solidFill>
                  <a:srgbClr val="216E6B"/>
                </a:solidFill>
              </a:defRPr>
            </a:lvl1pPr>
          </a:lstStyle>
          <a:p>
            <a:r>
              <a:t>v5</a:t>
            </a:r>
          </a:p>
        </p:txBody>
      </p:sp>
      <p:sp>
        <p:nvSpPr>
          <p:cNvPr id="414" name="Text 4"/>
          <p:cNvSpPr txBox="1"/>
          <p:nvPr/>
        </p:nvSpPr>
        <p:spPr>
          <a:xfrm>
            <a:off x="1051560" y="2039111"/>
            <a:ext cx="192024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900" b="1">
                <a:solidFill>
                  <a:srgbClr val="6E6A63"/>
                </a:solidFill>
              </a:defRPr>
            </a:lvl1pPr>
          </a:lstStyle>
          <a:p>
            <a:r>
              <a:t>meilleur résultat</a:t>
            </a:r>
          </a:p>
        </p:txBody>
      </p:sp>
      <p:sp>
        <p:nvSpPr>
          <p:cNvPr id="415" name="Shape 5"/>
          <p:cNvSpPr/>
          <p:nvPr/>
        </p:nvSpPr>
        <p:spPr>
          <a:xfrm>
            <a:off x="3657600" y="1417319"/>
            <a:ext cx="2194561" cy="1051562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6" name="Text 6"/>
          <p:cNvSpPr txBox="1"/>
          <p:nvPr/>
        </p:nvSpPr>
        <p:spPr>
          <a:xfrm>
            <a:off x="3794759" y="1581911"/>
            <a:ext cx="1920241" cy="365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2300" b="1">
                <a:solidFill>
                  <a:srgbClr val="B85C38"/>
                </a:solidFill>
              </a:defRPr>
            </a:lvl1pPr>
          </a:lstStyle>
          <a:p>
            <a:r>
              <a:t>25.28 s</a:t>
            </a:r>
          </a:p>
        </p:txBody>
      </p:sp>
      <p:sp>
        <p:nvSpPr>
          <p:cNvPr id="417" name="Text 7"/>
          <p:cNvSpPr txBox="1"/>
          <p:nvPr/>
        </p:nvSpPr>
        <p:spPr>
          <a:xfrm>
            <a:off x="3794759" y="2039111"/>
            <a:ext cx="192024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900" b="1">
                <a:solidFill>
                  <a:srgbClr val="6E6A63"/>
                </a:solidFill>
              </a:defRPr>
            </a:lvl1pPr>
          </a:lstStyle>
          <a:p>
            <a:r>
              <a:t>score final</a:t>
            </a:r>
          </a:p>
        </p:txBody>
      </p:sp>
      <p:sp>
        <p:nvSpPr>
          <p:cNvPr id="418" name="Shape 8"/>
          <p:cNvSpPr/>
          <p:nvPr/>
        </p:nvSpPr>
        <p:spPr>
          <a:xfrm>
            <a:off x="6400800" y="1417319"/>
            <a:ext cx="2194561" cy="1051562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9" name="Text 9"/>
          <p:cNvSpPr txBox="1"/>
          <p:nvPr/>
        </p:nvSpPr>
        <p:spPr>
          <a:xfrm>
            <a:off x="6537959" y="1581911"/>
            <a:ext cx="1920241" cy="365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2300" b="1">
                <a:solidFill>
                  <a:srgbClr val="6B8E4E"/>
                </a:solidFill>
              </a:defRPr>
            </a:lvl1pPr>
          </a:lstStyle>
          <a:p>
            <a:r>
              <a:t>100/100</a:t>
            </a:r>
          </a:p>
        </p:txBody>
      </p:sp>
      <p:sp>
        <p:nvSpPr>
          <p:cNvPr id="420" name="Text 10"/>
          <p:cNvSpPr txBox="1"/>
          <p:nvPr/>
        </p:nvSpPr>
        <p:spPr>
          <a:xfrm>
            <a:off x="6537959" y="2039111"/>
            <a:ext cx="192024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900" b="1">
                <a:solidFill>
                  <a:srgbClr val="6E6A63"/>
                </a:solidFill>
              </a:defRPr>
            </a:lvl1pPr>
          </a:lstStyle>
          <a:p>
            <a:r>
              <a:t>validité</a:t>
            </a:r>
          </a:p>
        </p:txBody>
      </p:sp>
      <p:sp>
        <p:nvSpPr>
          <p:cNvPr id="421" name="Shape 11"/>
          <p:cNvSpPr/>
          <p:nvPr/>
        </p:nvSpPr>
        <p:spPr>
          <a:xfrm>
            <a:off x="9144000" y="1417319"/>
            <a:ext cx="2194561" cy="1051562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D1C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2" name="Text 12"/>
          <p:cNvSpPr txBox="1"/>
          <p:nvPr/>
        </p:nvSpPr>
        <p:spPr>
          <a:xfrm>
            <a:off x="9281159" y="1581911"/>
            <a:ext cx="1920241" cy="365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2300" b="1">
                <a:solidFill>
                  <a:srgbClr val="3D5A80"/>
                </a:solidFill>
              </a:defRPr>
            </a:lvl1pPr>
          </a:lstStyle>
          <a:p>
            <a:r>
              <a:t>-111.52 s</a:t>
            </a:r>
          </a:p>
        </p:txBody>
      </p:sp>
      <p:sp>
        <p:nvSpPr>
          <p:cNvPr id="423" name="Text 13"/>
          <p:cNvSpPr txBox="1"/>
          <p:nvPr/>
        </p:nvSpPr>
        <p:spPr>
          <a:xfrm>
            <a:off x="9281159" y="2039111"/>
            <a:ext cx="192024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900" b="1">
                <a:solidFill>
                  <a:srgbClr val="6E6A63"/>
                </a:solidFill>
              </a:defRPr>
            </a:lvl1pPr>
          </a:lstStyle>
          <a:p>
            <a:r>
              <a:t>gain vs v4</a:t>
            </a:r>
          </a:p>
        </p:txBody>
      </p:sp>
      <p:sp>
        <p:nvSpPr>
          <p:cNvPr id="424" name="Text 14"/>
          <p:cNvSpPr txBox="1"/>
          <p:nvPr/>
        </p:nvSpPr>
        <p:spPr>
          <a:xfrm>
            <a:off x="1051560" y="3063239"/>
            <a:ext cx="10058401" cy="640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 defTabSz="859536">
              <a:lnSpc>
                <a:spcPct val="80000"/>
              </a:lnSpc>
              <a:defRPr sz="2256" b="1">
                <a:solidFill>
                  <a:srgbClr val="1B1C1E"/>
                </a:solidFill>
              </a:defRPr>
            </a:lvl1pPr>
          </a:lstStyle>
          <a:p>
            <a:r>
              <a:rPr dirty="0"/>
              <a:t>Le </a:t>
            </a:r>
            <a:r>
              <a:rPr dirty="0" err="1"/>
              <a:t>facteur</a:t>
            </a:r>
            <a:r>
              <a:rPr dirty="0"/>
              <a:t> </a:t>
            </a:r>
            <a:r>
              <a:rPr dirty="0" err="1"/>
              <a:t>clé</a:t>
            </a:r>
            <a:r>
              <a:rPr dirty="0"/>
              <a:t> </a:t>
            </a:r>
            <a:r>
              <a:rPr dirty="0" err="1"/>
              <a:t>n’est</a:t>
            </a:r>
            <a:r>
              <a:rPr dirty="0"/>
              <a:t> pas </a:t>
            </a:r>
            <a:r>
              <a:rPr dirty="0" err="1"/>
              <a:t>seulement</a:t>
            </a:r>
            <a:r>
              <a:rPr dirty="0"/>
              <a:t> le score : </a:t>
            </a:r>
            <a:r>
              <a:rPr dirty="0" err="1"/>
              <a:t>c’est</a:t>
            </a:r>
            <a:r>
              <a:rPr dirty="0"/>
              <a:t> </a:t>
            </a:r>
            <a:r>
              <a:rPr dirty="0" err="1"/>
              <a:t>l’espace</a:t>
            </a:r>
            <a:r>
              <a:rPr dirty="0"/>
              <a:t> de </a:t>
            </a:r>
            <a:r>
              <a:rPr dirty="0" err="1"/>
              <a:t>graphes</a:t>
            </a:r>
            <a:r>
              <a:rPr dirty="0"/>
              <a:t> que </a:t>
            </a:r>
            <a:r>
              <a:rPr dirty="0" err="1"/>
              <a:t>l’on</a:t>
            </a:r>
            <a:r>
              <a:rPr dirty="0"/>
              <a:t> </a:t>
            </a:r>
            <a:r>
              <a:rPr dirty="0" err="1"/>
              <a:t>donne</a:t>
            </a:r>
            <a:r>
              <a:rPr dirty="0"/>
              <a:t> à explorer.</a:t>
            </a:r>
          </a:p>
        </p:txBody>
      </p:sp>
      <p:sp>
        <p:nvSpPr>
          <p:cNvPr id="425" name="Text 15"/>
          <p:cNvSpPr txBox="1"/>
          <p:nvPr/>
        </p:nvSpPr>
        <p:spPr>
          <a:xfrm>
            <a:off x="1463040" y="4251959"/>
            <a:ext cx="9418320" cy="1280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7" tIns="507" rIns="507" bIns="507" anchor="ctr">
            <a:normAutofit/>
          </a:bodyPr>
          <a:lstStyle/>
          <a:p>
            <a:pPr>
              <a:defRPr>
                <a:solidFill>
                  <a:srgbClr val="183A3A"/>
                </a:solidFill>
              </a:defRPr>
            </a:pPr>
            <a:r>
              <a:t>Les graines structurelles placent la recherche près des contre-exemples.</a:t>
            </a:r>
          </a:p>
          <a:p>
            <a:pPr>
              <a:defRPr>
                <a:solidFill>
                  <a:srgbClr val="183A3A"/>
                </a:solidFill>
              </a:defRPr>
            </a:pPr>
            <a:r>
              <a:t>Les mutations exploitent localement ces bonnes formes.</a:t>
            </a:r>
          </a:p>
          <a:p>
            <a:pPr>
              <a:defRPr>
                <a:solidFill>
                  <a:srgbClr val="183A3A"/>
                </a:solidFill>
              </a:defRPr>
            </a:pPr>
            <a:r>
              <a:t>La population adaptative réduit le temps sans perdre la validation stricte.</a:t>
            </a:r>
          </a:p>
        </p:txBody>
      </p:sp>
      <p:sp>
        <p:nvSpPr>
          <p:cNvPr id="426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217151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18</a:t>
            </a:fld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1402</Words>
  <Application>Microsoft Macintosh PowerPoint</Application>
  <PresentationFormat>Grand écran</PresentationFormat>
  <Paragraphs>245</Paragraphs>
  <Slides>18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Bibi Marie</cp:lastModifiedBy>
  <cp:revision>1</cp:revision>
  <dcterms:modified xsi:type="dcterms:W3CDTF">2026-05-20T08:32:43Z</dcterms:modified>
</cp:coreProperties>
</file>